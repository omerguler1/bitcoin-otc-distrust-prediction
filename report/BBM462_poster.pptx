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999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999" cy="45000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720000"/>
            <a:ext cx="28835999" cy="3600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Early Warning of Distrust in Bitcoin-OTC</a:t>
            </a:r>
          </a:p>
          <a:p>
            <a:pPr algn="l">
              <a:spcBef>
                <a:spcPts val="800"/>
              </a:spcBef>
            </a:pPr>
            <a:r>
              <a:rPr sz="3400" b="0" i="1">
                <a:solidFill>
                  <a:srgbClr val="CFD8E6"/>
                </a:solidFill>
                <a:latin typeface="Calibri"/>
              </a:rPr>
              <a:t>Community-Aware Prediction of New Negative Trust Edges in a Temporal Signed Network</a:t>
            </a:r>
          </a:p>
          <a:p>
            <a:pPr algn="l">
              <a:spcBef>
                <a:spcPts val="1400"/>
              </a:spcBef>
            </a:pPr>
            <a:r>
              <a:rPr sz="2200" b="0" i="0">
                <a:solidFill>
                  <a:srgbClr val="E8ECF2"/>
                </a:solidFill>
                <a:latin typeface="Calibri"/>
              </a:rPr>
              <a:t>Ömer Faruk Güler   ·   Hacettepe University   ·   BBM462 Final Project   ·   omer55glr@gmail.com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5040000"/>
            <a:ext cx="9252000" cy="5220000"/>
          </a:xfrm>
          <a:prstGeom prst="roundRect">
            <a:avLst>
              <a:gd name="adj" fmla="val 4000"/>
            </a:avLst>
          </a:prstGeom>
          <a:solidFill>
            <a:srgbClr val="F7F8FB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7999" y="5076000"/>
            <a:ext cx="9036000" cy="612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3400" b="1" i="0">
                <a:solidFill>
                  <a:srgbClr val="102A55"/>
                </a:solidFill>
                <a:latin typeface="Calibri"/>
              </a:rPr>
              <a:t>1   ·  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7999" y="5742000"/>
            <a:ext cx="9036000" cy="180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5940000"/>
            <a:ext cx="8892000" cy="4176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0" i="0">
                <a:solidFill>
                  <a:srgbClr val="2B2B2B"/>
                </a:solidFill>
                <a:latin typeface="Calibri"/>
              </a:rPr>
              <a:t>Online trust marketplaces depend on user-to-user ratings.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0" i="0">
                <a:solidFill>
                  <a:srgbClr val="2B2B2B"/>
                </a:solidFill>
                <a:latin typeface="Calibri"/>
              </a:rPr>
              <a:t>Negative ratings carry early information about emerging distrust.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i="0">
                <a:solidFill>
                  <a:srgbClr val="C0392B"/>
                </a:solidFill>
                <a:latin typeface="Calibri"/>
              </a:rPr>
              <a:t>Goal — </a:t>
            </a:r>
            <a:r>
              <a:rPr sz="2400" b="0" i="0">
                <a:solidFill>
                  <a:srgbClr val="2B2B2B"/>
                </a:solidFill>
                <a:latin typeface="Calibri"/>
              </a:rPr>
              <a:t>at end of month t, rank pairs (u, v) by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i="1">
                <a:solidFill>
                  <a:srgbClr val="2B2B2B"/>
                </a:solidFill>
                <a:latin typeface="Calibri"/>
              </a:rPr>
              <a:t>P(new negative directed edge u → v in t + 1)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1">
                <a:solidFill>
                  <a:srgbClr val="6E6E6E"/>
                </a:solidFill>
                <a:latin typeface="Calibri"/>
              </a:rPr>
              <a:t>Applications: </a:t>
            </a:r>
            <a:r>
              <a:rPr sz="2200" b="0" i="0">
                <a:solidFill>
                  <a:srgbClr val="2B2B2B"/>
                </a:solidFill>
                <a:latin typeface="Calibri"/>
              </a:rPr>
              <a:t>moderation · fraud surveillance · reputation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10620000"/>
            <a:ext cx="9252000" cy="5940000"/>
          </a:xfrm>
          <a:prstGeom prst="roundRect">
            <a:avLst>
              <a:gd name="adj" fmla="val 4000"/>
            </a:avLst>
          </a:prstGeom>
          <a:solidFill>
            <a:srgbClr val="F7F8FB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999" y="10656000"/>
            <a:ext cx="9036000" cy="612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3400" b="1" i="0">
                <a:solidFill>
                  <a:srgbClr val="102A55"/>
                </a:solidFill>
                <a:latin typeface="Calibri"/>
              </a:rPr>
              <a:t>2   ·   Why It Is Not Generic Link Prediction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999" y="11322000"/>
            <a:ext cx="9036000" cy="180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11520000"/>
            <a:ext cx="8892000" cy="4896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i="0">
                <a:solidFill>
                  <a:srgbClr val="C0392B"/>
                </a:solidFill>
                <a:latin typeface="Calibri"/>
              </a:rPr>
              <a:t>•  Sign-dependent — </a:t>
            </a:r>
            <a:r>
              <a:rPr sz="2400" b="0" i="0">
                <a:solidFill>
                  <a:srgbClr val="2B2B2B"/>
                </a:solidFill>
                <a:latin typeface="Calibri"/>
              </a:rPr>
              <a:t>predicting any edge ≠ predicting a negative edge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i="0">
                <a:solidFill>
                  <a:srgbClr val="C0392B"/>
                </a:solidFill>
                <a:latin typeface="Calibri"/>
              </a:rPr>
              <a:t>•  Heavily imbalanced — </a:t>
            </a:r>
            <a:r>
              <a:rPr sz="2400" b="0" i="0">
                <a:solidFill>
                  <a:srgbClr val="2B2B2B"/>
                </a:solidFill>
                <a:latin typeface="Calibri"/>
              </a:rPr>
              <a:t>~10% of edges negative; new monthly negatives much rarer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i="0">
                <a:solidFill>
                  <a:srgbClr val="C0392B"/>
                </a:solidFill>
                <a:latin typeface="Calibri"/>
              </a:rPr>
              <a:t>•  Time-causal — </a:t>
            </a:r>
            <a:r>
              <a:rPr sz="2400" b="0" i="0">
                <a:solidFill>
                  <a:srgbClr val="2B2B2B"/>
                </a:solidFill>
                <a:latin typeface="Calibri"/>
              </a:rPr>
              <a:t>only pre-snapshot information allowed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1">
                <a:solidFill>
                  <a:srgbClr val="2B2B2B"/>
                </a:solidFill>
                <a:latin typeface="Calibri"/>
              </a:rPr>
              <a:t>→ ranking metrics </a:t>
            </a:r>
            <a:r>
              <a:rPr sz="2200" b="1" i="1">
                <a:solidFill>
                  <a:srgbClr val="3B7DD8"/>
                </a:solidFill>
                <a:latin typeface="Calibri"/>
              </a:rPr>
              <a:t>(ROC-AUC, PR-AUC)</a:t>
            </a:r>
            <a:r>
              <a:rPr sz="2200" b="0" i="1">
                <a:solidFill>
                  <a:srgbClr val="2B2B2B"/>
                </a:solidFill>
                <a:latin typeface="Calibri"/>
              </a:rPr>
              <a:t>, not threshold metrics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0000" y="16920000"/>
            <a:ext cx="9252000" cy="21924000"/>
          </a:xfrm>
          <a:prstGeom prst="roundRect">
            <a:avLst>
              <a:gd name="adj" fmla="val 4000"/>
            </a:avLst>
          </a:prstGeom>
          <a:solidFill>
            <a:srgbClr val="F7F8FB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999" y="16956000"/>
            <a:ext cx="9036000" cy="612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3400" b="1" i="0">
                <a:solidFill>
                  <a:srgbClr val="102A55"/>
                </a:solidFill>
                <a:latin typeface="Calibri"/>
              </a:rPr>
              <a:t>3   ·   Dataset and Task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999" y="17622000"/>
            <a:ext cx="9036000" cy="180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000" y="17820000"/>
            <a:ext cx="8892000" cy="5040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400" b="1" i="0">
                <a:solidFill>
                  <a:srgbClr val="102A55"/>
                </a:solidFill>
                <a:latin typeface="Calibri"/>
              </a:rPr>
              <a:t>Bitcoin-OTC (SNAP)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2B2B2B"/>
                </a:solidFill>
                <a:latin typeface="Calibri"/>
              </a:rPr>
              <a:t>35,592 ratings · 5,881 users · Nov 2010 – Jan 2016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2B2B2B"/>
                </a:solidFill>
                <a:latin typeface="Calibri"/>
              </a:rPr>
              <a:t>Edge tuple: </a:t>
            </a:r>
            <a:r>
              <a:rPr sz="2200" b="0" i="1">
                <a:solidFill>
                  <a:srgbClr val="2B2B2B"/>
                </a:solidFill>
                <a:latin typeface="Calibri"/>
              </a:rPr>
              <a:t>(u → v, rating ∈ [−10, +10], timestamp)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2B2B2B"/>
                </a:solidFill>
                <a:latin typeface="Calibri"/>
              </a:rPr>
              <a:t>90% positive · 10% negative · reciprocity 0.79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i="0">
                <a:solidFill>
                  <a:srgbClr val="C0392B"/>
                </a:solidFill>
                <a:latin typeface="Calibri"/>
              </a:rPr>
              <a:t>Task formulation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100" b="0" i="0">
                <a:solidFill>
                  <a:srgbClr val="2B2B2B"/>
                </a:solidFill>
                <a:latin typeface="Calibri"/>
              </a:rPr>
              <a:t>Predict probability that an ordered pair (u, v) receives a new negative rating in (t, t + 1].</a:t>
            </a:r>
          </a:p>
        </p:txBody>
      </p:sp>
      <p:pic>
        <p:nvPicPr>
          <p:cNvPr id="16" name="Picture 15" descr="edges_per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00" y="23760000"/>
            <a:ext cx="8892000" cy="38902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0000" y="27761400"/>
            <a:ext cx="8892000" cy="324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1600" b="0" i="1">
                <a:solidFill>
                  <a:srgbClr val="6E6E6E"/>
                </a:solidFill>
                <a:latin typeface="Calibri"/>
              </a:rPr>
              <a:t>Fig 1 — Monthly interaction volume; tail decay motivates the eligible pool.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2000" y="5040000"/>
            <a:ext cx="9252000" cy="10260000"/>
          </a:xfrm>
          <a:prstGeom prst="roundRect">
            <a:avLst>
              <a:gd name="adj" fmla="val 4000"/>
            </a:avLst>
          </a:prstGeom>
          <a:solidFill>
            <a:srgbClr val="F7F8FB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20000" y="5076000"/>
            <a:ext cx="9036000" cy="612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3400" b="1" i="0">
                <a:solidFill>
                  <a:srgbClr val="102A55"/>
                </a:solidFill>
                <a:latin typeface="Calibri"/>
              </a:rPr>
              <a:t>4   ·  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20000" y="5742000"/>
            <a:ext cx="9036000" cy="180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2000" y="5940000"/>
            <a:ext cx="8892000" cy="900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100" b="0" i="1">
                <a:solidFill>
                  <a:srgbClr val="6E6E6E"/>
                </a:solidFill>
                <a:latin typeface="Calibri"/>
              </a:rPr>
              <a:t>Five interpretable stages — no leakage, fixed seeds.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132000" y="6840000"/>
            <a:ext cx="6012000" cy="1007999"/>
          </a:xfrm>
          <a:prstGeom prst="roundRect">
            <a:avLst>
              <a:gd name="adj" fmla="val 10000"/>
            </a:avLst>
          </a:prstGeom>
          <a:solidFill>
            <a:srgbClr val="F1F3F8"/>
          </a:solidFill>
          <a:ln w="12700">
            <a:solidFill>
              <a:srgbClr val="10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0" rIns="144000" tIns="90000" bIns="90000" wrap="square"/>
          <a:lstStyle/>
          <a:p>
            <a:pPr algn="ctr"/>
            <a:r>
              <a:rPr sz="2200" b="1" i="0">
                <a:solidFill>
                  <a:srgbClr val="102A55"/>
                </a:solidFill>
                <a:latin typeface="Calibri"/>
              </a:rPr>
              <a:t>Raw events</a:t>
            </a:r>
          </a:p>
          <a:p>
            <a:pPr algn="ctr">
              <a:spcBef>
                <a:spcPts val="200"/>
              </a:spcBef>
            </a:pPr>
            <a:r>
              <a:rPr sz="1400" b="0" i="1">
                <a:solidFill>
                  <a:srgbClr val="6E6E6E"/>
                </a:solidFill>
                <a:latin typeface="Calibri"/>
              </a:rPr>
              <a:t>u → v, rating, ts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14958000" y="7866000"/>
            <a:ext cx="360000" cy="288000"/>
          </a:xfrm>
          <a:prstGeom prst="downArrow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2132000" y="8172000"/>
            <a:ext cx="6012000" cy="1007999"/>
          </a:xfrm>
          <a:prstGeom prst="roundRect">
            <a:avLst>
              <a:gd name="adj" fmla="val 10000"/>
            </a:avLst>
          </a:prstGeom>
          <a:solidFill>
            <a:srgbClr val="F1F3F8"/>
          </a:solidFill>
          <a:ln w="12700">
            <a:solidFill>
              <a:srgbClr val="10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0" rIns="144000" tIns="90000" bIns="90000" wrap="square"/>
          <a:lstStyle/>
          <a:p>
            <a:pPr algn="ctr"/>
            <a:r>
              <a:rPr sz="2200" b="1" i="0">
                <a:solidFill>
                  <a:srgbClr val="102A55"/>
                </a:solidFill>
                <a:latin typeface="Calibri"/>
              </a:rPr>
              <a:t>Monthly snapshots</a:t>
            </a:r>
          </a:p>
          <a:p>
            <a:pPr algn="ctr">
              <a:spcBef>
                <a:spcPts val="200"/>
              </a:spcBef>
            </a:pPr>
            <a:r>
              <a:rPr sz="1400" b="0" i="1">
                <a:solidFill>
                  <a:srgbClr val="6E6E6E"/>
                </a:solidFill>
                <a:latin typeface="Calibri"/>
              </a:rPr>
              <a:t>cumulative; last-rating-wins state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4958000" y="9198000"/>
            <a:ext cx="360000" cy="288000"/>
          </a:xfrm>
          <a:prstGeom prst="downArrow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2132000" y="9504000"/>
            <a:ext cx="6012000" cy="1007999"/>
          </a:xfrm>
          <a:prstGeom prst="roundRect">
            <a:avLst>
              <a:gd name="adj" fmla="val 10000"/>
            </a:avLst>
          </a:prstGeom>
          <a:solidFill>
            <a:srgbClr val="F1F3F8"/>
          </a:solidFill>
          <a:ln w="12700">
            <a:solidFill>
              <a:srgbClr val="10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0" rIns="144000" tIns="90000" bIns="90000" wrap="square"/>
          <a:lstStyle/>
          <a:p>
            <a:pPr algn="ctr"/>
            <a:r>
              <a:rPr sz="2200" b="1" i="0">
                <a:solidFill>
                  <a:srgbClr val="102A55"/>
                </a:solidFill>
                <a:latin typeface="Calibri"/>
              </a:rPr>
              <a:t>Candidates + labels</a:t>
            </a:r>
          </a:p>
          <a:p>
            <a:pPr algn="ctr">
              <a:spcBef>
                <a:spcPts val="200"/>
              </a:spcBef>
            </a:pPr>
            <a:r>
              <a:rPr sz="1400" b="0" i="1">
                <a:solidFill>
                  <a:srgbClr val="6E6E6E"/>
                </a:solidFill>
                <a:latin typeface="Calibri"/>
              </a:rPr>
              <a:t>2-hop, core-active, no existing u → v −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14958000" y="10530000"/>
            <a:ext cx="360000" cy="288000"/>
          </a:xfrm>
          <a:prstGeom prst="downArrow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2132000" y="10836000"/>
            <a:ext cx="6012000" cy="1007999"/>
          </a:xfrm>
          <a:prstGeom prst="roundRect">
            <a:avLst>
              <a:gd name="adj" fmla="val 10000"/>
            </a:avLst>
          </a:prstGeom>
          <a:solidFill>
            <a:srgbClr val="F1F3F8"/>
          </a:solidFill>
          <a:ln w="12700">
            <a:solidFill>
              <a:srgbClr val="10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0" rIns="144000" tIns="90000" bIns="90000" wrap="square"/>
          <a:lstStyle/>
          <a:p>
            <a:pPr algn="ctr"/>
            <a:r>
              <a:rPr sz="2200" b="1" i="0">
                <a:solidFill>
                  <a:srgbClr val="102A55"/>
                </a:solidFill>
                <a:latin typeface="Calibri"/>
              </a:rPr>
              <a:t>36 features  (5 families)</a:t>
            </a:r>
          </a:p>
          <a:p>
            <a:pPr algn="ctr">
              <a:spcBef>
                <a:spcPts val="200"/>
              </a:spcBef>
            </a:pPr>
            <a:r>
              <a:rPr sz="1400" b="0" i="1">
                <a:solidFill>
                  <a:srgbClr val="6E6E6E"/>
                </a:solidFill>
                <a:latin typeface="Calibri"/>
              </a:rPr>
              <a:t>structural · trust · temporal · community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14958000" y="11861999"/>
            <a:ext cx="360000" cy="288000"/>
          </a:xfrm>
          <a:prstGeom prst="downArrow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2132000" y="12167999"/>
            <a:ext cx="6012000" cy="1007999"/>
          </a:xfrm>
          <a:prstGeom prst="roundRect">
            <a:avLst>
              <a:gd name="adj" fmla="val 10000"/>
            </a:avLst>
          </a:prstGeom>
          <a:solidFill>
            <a:srgbClr val="F1F3F8"/>
          </a:solidFill>
          <a:ln w="12700">
            <a:solidFill>
              <a:srgbClr val="10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4000" rIns="144000" tIns="90000" bIns="90000" wrap="square"/>
          <a:lstStyle/>
          <a:p>
            <a:pPr algn="ctr"/>
            <a:r>
              <a:rPr sz="2200" b="1" i="0">
                <a:solidFill>
                  <a:srgbClr val="102A55"/>
                </a:solidFill>
                <a:latin typeface="Calibri"/>
              </a:rPr>
              <a:t>LR  /  RF</a:t>
            </a:r>
          </a:p>
          <a:p>
            <a:pPr algn="ctr">
              <a:spcBef>
                <a:spcPts val="200"/>
              </a:spcBef>
            </a:pPr>
            <a:r>
              <a:rPr sz="1400" b="0" i="1">
                <a:solidFill>
                  <a:srgbClr val="6E6E6E"/>
                </a:solidFill>
                <a:latin typeface="Calibri"/>
              </a:rPr>
              <a:t>fitted, scored, ranked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2000" y="14652000"/>
            <a:ext cx="8892000" cy="540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1" i="1">
                <a:solidFill>
                  <a:srgbClr val="C0392B"/>
                </a:solidFill>
                <a:latin typeface="Calibri"/>
              </a:rPr>
              <a:t>Leakage boundary: </a:t>
            </a:r>
            <a:r>
              <a:rPr sz="1800" b="0" i="1">
                <a:solidFill>
                  <a:srgbClr val="6E6E6E"/>
                </a:solidFill>
                <a:latin typeface="Calibri"/>
              </a:rPr>
              <a:t>only events with  ts ≤ end_of_month(t)  enter features.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12000" y="15660000"/>
            <a:ext cx="9252000" cy="7560000"/>
          </a:xfrm>
          <a:prstGeom prst="roundRect">
            <a:avLst>
              <a:gd name="adj" fmla="val 4000"/>
            </a:avLst>
          </a:prstGeom>
          <a:solidFill>
            <a:srgbClr val="F7F8FB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20000" y="15696000"/>
            <a:ext cx="9036000" cy="612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3400" b="1" i="0">
                <a:solidFill>
                  <a:srgbClr val="102A55"/>
                </a:solidFill>
                <a:latin typeface="Calibri"/>
              </a:rPr>
              <a:t>5   ·   Feature Groups   ·   36 features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20000" y="16362000"/>
            <a:ext cx="9036000" cy="180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692000" y="16596000"/>
            <a:ext cx="4356000" cy="3096000"/>
          </a:xfrm>
          <a:prstGeom prst="roundRect">
            <a:avLst>
              <a:gd name="adj" fmla="val 6000"/>
            </a:avLst>
          </a:prstGeom>
          <a:solidFill>
            <a:srgbClr val="F6F6F6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90000" bIns="90000" wrap="square"/>
          <a:lstStyle/>
          <a:p>
            <a:pPr algn="l"/>
            <a:r>
              <a:rPr sz="2000" b="1" i="0">
                <a:solidFill>
                  <a:srgbClr val="C0392B"/>
                </a:solidFill>
                <a:latin typeface="Calibri"/>
              </a:rPr>
              <a:t>(S)</a:t>
            </a:r>
            <a:r>
              <a:rPr sz="2000" b="1" i="0">
                <a:solidFill>
                  <a:srgbClr val="102A55"/>
                </a:solidFill>
                <a:latin typeface="Calibri"/>
              </a:rPr>
              <a:t>  Structural · 12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2B2B2B"/>
                </a:solidFill>
                <a:latin typeface="Calibri"/>
              </a:rPr>
              <a:t>CN, Jaccard, Adamic-Adar, PA · signed degrees · reciprocity · prior interaction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227999" y="16596000"/>
            <a:ext cx="4356000" cy="3096000"/>
          </a:xfrm>
          <a:prstGeom prst="roundRect">
            <a:avLst>
              <a:gd name="adj" fmla="val 6000"/>
            </a:avLst>
          </a:prstGeom>
          <a:solidFill>
            <a:srgbClr val="F1F3F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90000" bIns="90000" wrap="square"/>
          <a:lstStyle/>
          <a:p>
            <a:pPr algn="l"/>
            <a:r>
              <a:rPr sz="2000" b="1" i="0">
                <a:solidFill>
                  <a:srgbClr val="C0392B"/>
                </a:solidFill>
                <a:latin typeface="Calibri"/>
              </a:rPr>
              <a:t>(+)</a:t>
            </a:r>
            <a:r>
              <a:rPr sz="2000" b="1" i="0">
                <a:solidFill>
                  <a:srgbClr val="102A55"/>
                </a:solidFill>
                <a:latin typeface="Calibri"/>
              </a:rPr>
              <a:t>  Trust-summary · 4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2B2B2B"/>
                </a:solidFill>
                <a:latin typeface="Calibri"/>
              </a:rPr>
              <a:t>Mean rating given/received · negative-given ratio · negative-received ratio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92000" y="19872000"/>
            <a:ext cx="4356000" cy="3096000"/>
          </a:xfrm>
          <a:prstGeom prst="roundRect">
            <a:avLst>
              <a:gd name="adj" fmla="val 6000"/>
            </a:avLst>
          </a:prstGeom>
          <a:solidFill>
            <a:srgbClr val="FDF1EE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90000" bIns="90000" wrap="square"/>
          <a:lstStyle/>
          <a:p>
            <a:pPr algn="l"/>
            <a:r>
              <a:rPr sz="2000" b="1" i="0">
                <a:solidFill>
                  <a:srgbClr val="C0392B"/>
                </a:solidFill>
                <a:latin typeface="Calibri"/>
              </a:rPr>
              <a:t>(+T)</a:t>
            </a:r>
            <a:r>
              <a:rPr sz="2000" b="1" i="0">
                <a:solidFill>
                  <a:srgbClr val="102A55"/>
                </a:solidFill>
                <a:latin typeface="Calibri"/>
              </a:rPr>
              <a:t>  Temporal · 12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2B2B2B"/>
                </a:solidFill>
                <a:latin typeface="Calibri"/>
              </a:rPr>
              <a:t>Days since last activity · recent-window counts · exponentially decayed aggregates  (τ = 60 d)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227999" y="19872000"/>
            <a:ext cx="4356000" cy="3096000"/>
          </a:xfrm>
          <a:prstGeom prst="roundRect">
            <a:avLst>
              <a:gd name="adj" fmla="val 6000"/>
            </a:avLst>
          </a:prstGeom>
          <a:solidFill>
            <a:srgbClr val="EFF6EF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90000" bIns="90000" wrap="square"/>
          <a:lstStyle/>
          <a:p>
            <a:pPr algn="l"/>
            <a:r>
              <a:rPr sz="2000" b="1" i="0">
                <a:solidFill>
                  <a:srgbClr val="C0392B"/>
                </a:solidFill>
                <a:latin typeface="Calibri"/>
              </a:rPr>
              <a:t>(+C)</a:t>
            </a:r>
            <a:r>
              <a:rPr sz="2000" b="1" i="0">
                <a:solidFill>
                  <a:srgbClr val="102A55"/>
                </a:solidFill>
                <a:latin typeface="Calibri"/>
              </a:rPr>
              <a:t>  Community-aware · 8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2B2B2B"/>
                </a:solidFill>
                <a:latin typeface="Calibri"/>
              </a:rPr>
              <a:t>Louvain on G⁺ · same_community · sizes · neighborhood overlap · boundary fractions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512000" y="23580000"/>
            <a:ext cx="9252000" cy="15264000"/>
          </a:xfrm>
          <a:prstGeom prst="roundRect">
            <a:avLst>
              <a:gd name="adj" fmla="val 4000"/>
            </a:avLst>
          </a:prstGeom>
          <a:solidFill>
            <a:srgbClr val="F7F8FB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20000" y="23615999"/>
            <a:ext cx="9036000" cy="612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3400" b="1" i="0">
                <a:solidFill>
                  <a:srgbClr val="102A55"/>
                </a:solidFill>
                <a:latin typeface="Calibri"/>
              </a:rPr>
              <a:t>6   ·   Experimental Setup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20000" y="24282000"/>
            <a:ext cx="9036000" cy="180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92000" y="24480000"/>
            <a:ext cx="8892000" cy="2880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300" b="1" i="0">
                <a:solidFill>
                  <a:srgbClr val="C0392B"/>
                </a:solidFill>
                <a:latin typeface="Calibri"/>
              </a:rPr>
              <a:t>Models — </a:t>
            </a:r>
            <a:r>
              <a:rPr sz="2300" b="0" i="0">
                <a:solidFill>
                  <a:srgbClr val="2B2B2B"/>
                </a:solidFill>
                <a:latin typeface="Calibri"/>
              </a:rPr>
              <a:t>Logistic Regression  ·  Random Forest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800" b="0" i="1">
                <a:solidFill>
                  <a:srgbClr val="6E6E6E"/>
                </a:solidFill>
                <a:latin typeface="Calibri"/>
              </a:rPr>
              <a:t>(no hyperparameter tuning)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i="0">
                <a:solidFill>
                  <a:srgbClr val="2B2B2B"/>
                </a:solidFill>
                <a:latin typeface="Calibri"/>
              </a:rPr>
              <a:t>Forward-time split — no shuffle, no leakage: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10692000" y="27180000"/>
          <a:ext cx="8892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400"/>
                <a:gridCol w="3112200"/>
                <a:gridCol w="1956240"/>
                <a:gridCol w="2045160"/>
              </a:tblGrid>
              <a:tr h="630000">
                <a:tc>
                  <a:txBody>
                    <a:bodyPr lIns="72000" rIns="72000" tIns="28800" bIns="28800"/>
                    <a:lstStyle/>
                    <a:p>
                      <a:pPr algn="l"/>
                      <a:r>
                        <a:rPr sz="2200" b="1" i="0">
                          <a:solidFill>
                            <a:srgbClr val="102A55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>
                    <a:solidFill>
                      <a:srgbClr val="F1F3F8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200" b="1" i="0">
                          <a:solidFill>
                            <a:srgbClr val="102A55"/>
                          </a:solidFill>
                          <a:latin typeface="Calibri"/>
                        </a:rPr>
                        <a:t>Months</a:t>
                      </a:r>
                    </a:p>
                  </a:txBody>
                  <a:tcPr>
                    <a:solidFill>
                      <a:srgbClr val="F1F3F8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200" b="1" i="0">
                          <a:solidFill>
                            <a:srgbClr val="102A55"/>
                          </a:solidFill>
                          <a:latin typeface="Calibri"/>
                        </a:rPr>
                        <a:t>Pairs</a:t>
                      </a:r>
                    </a:p>
                  </a:txBody>
                  <a:tcPr>
                    <a:solidFill>
                      <a:srgbClr val="F1F3F8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200" b="1" i="0">
                          <a:solidFill>
                            <a:srgbClr val="102A55"/>
                          </a:solidFill>
                          <a:latin typeface="Calibri"/>
                        </a:rPr>
                        <a:t>Positives</a:t>
                      </a:r>
                    </a:p>
                  </a:txBody>
                  <a:tcPr>
                    <a:solidFill>
                      <a:srgbClr val="F1F3F8"/>
                    </a:solidFill>
                  </a:tcPr>
                </a:tc>
              </a:tr>
              <a:tr h="630000">
                <a:tc>
                  <a:txBody>
                    <a:bodyPr lIns="72000" rIns="72000" tIns="28800" bIns="28800"/>
                    <a:lstStyle/>
                    <a:p>
                      <a:pPr algn="l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t = 13 – 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5.0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lIns="72000" rIns="72000" tIns="28800" bIns="28800"/>
                    <a:lstStyle/>
                    <a:p>
                      <a:pPr algn="l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t = 46, 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184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lIns="72000" rIns="72000" tIns="28800" bIns="28800"/>
                    <a:lstStyle/>
                    <a:p>
                      <a:pPr algn="l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t = 48, 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149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200" b="0" i="0">
                          <a:solidFill>
                            <a:srgbClr val="2B2B2B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10692000" y="29880000"/>
            <a:ext cx="8892000" cy="720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100" b="1" i="0">
                <a:solidFill>
                  <a:srgbClr val="2B2B2B"/>
                </a:solidFill>
                <a:latin typeface="Calibri"/>
              </a:rPr>
              <a:t>Metrics: </a:t>
            </a:r>
            <a:r>
              <a:rPr sz="2100" b="0" i="0">
                <a:solidFill>
                  <a:srgbClr val="2B2B2B"/>
                </a:solidFill>
                <a:latin typeface="Calibri"/>
              </a:rPr>
              <a:t>ROC-AUC  ·  PR-AUC</a:t>
            </a:r>
            <a:r>
              <a:rPr sz="2100" b="0" i="1">
                <a:solidFill>
                  <a:srgbClr val="6E6E6E"/>
                </a:solidFill>
                <a:latin typeface="Calibri"/>
              </a:rPr>
              <a:t>    Seeds: </a:t>
            </a:r>
            <a:r>
              <a:rPr sz="2100" b="0" i="1">
                <a:solidFill>
                  <a:srgbClr val="6E6E6E"/>
                </a:solidFill>
                <a:latin typeface="Calibri"/>
              </a:rPr>
              <a:t>all fixed at 42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0304000" y="5040000"/>
            <a:ext cx="9252000" cy="11880000"/>
          </a:xfrm>
          <a:prstGeom prst="roundRect">
            <a:avLst>
              <a:gd name="adj" fmla="val 4000"/>
            </a:avLst>
          </a:prstGeom>
          <a:solidFill>
            <a:srgbClr val="F7F8FB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412000" y="5076000"/>
            <a:ext cx="9036000" cy="612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3400" b="1" i="0">
                <a:solidFill>
                  <a:srgbClr val="102A55"/>
                </a:solidFill>
                <a:latin typeface="Calibri"/>
              </a:rPr>
              <a:t>7   ·   Main Results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412000" y="5742000"/>
            <a:ext cx="9036000" cy="180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484000" y="5940000"/>
            <a:ext cx="8892000" cy="1080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i="0">
                <a:solidFill>
                  <a:srgbClr val="C0392B"/>
                </a:solidFill>
                <a:latin typeface="Calibri"/>
              </a:rPr>
              <a:t>Adding temporal features produces the largest improvement.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1">
                <a:solidFill>
                  <a:srgbClr val="6E6E6E"/>
                </a:solidFill>
                <a:latin typeface="Calibri"/>
              </a:rPr>
              <a:t>Random Forest, test fold  (t = 48, 49)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20484000" y="7020000"/>
          <a:ext cx="8891999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4639"/>
                <a:gridCol w="2578680"/>
                <a:gridCol w="2578680"/>
              </a:tblGrid>
              <a:tr h="720000">
                <a:tc>
                  <a:txBody>
                    <a:bodyPr lIns="72000" rIns="72000" tIns="28800" bIns="28800"/>
                    <a:lstStyle/>
                    <a:p>
                      <a:pPr algn="l"/>
                      <a:r>
                        <a:rPr sz="2400" b="1" i="0">
                          <a:solidFill>
                            <a:srgbClr val="102A55"/>
                          </a:solidFill>
                          <a:latin typeface="Calibri"/>
                        </a:rPr>
                        <a:t>Feature set</a:t>
                      </a:r>
                    </a:p>
                  </a:txBody>
                  <a:tcPr>
                    <a:solidFill>
                      <a:srgbClr val="F1F3F8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400" b="1" i="0">
                          <a:solidFill>
                            <a:srgbClr val="102A55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F1F3F8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400" b="1" i="0">
                          <a:solidFill>
                            <a:srgbClr val="102A55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F1F3F8"/>
                    </a:solidFill>
                  </a:tcPr>
                </a:tc>
              </a:tr>
              <a:tr h="720000">
                <a:tc>
                  <a:txBody>
                    <a:bodyPr lIns="72000" rIns="72000" tIns="28800" bIns="28800"/>
                    <a:lstStyle/>
                    <a:p>
                      <a:pPr algn="l"/>
                      <a:r>
                        <a:rPr sz="2400" b="0" i="0">
                          <a:solidFill>
                            <a:srgbClr val="2B2B2B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400" b="0" i="0">
                          <a:solidFill>
                            <a:srgbClr val="2B2B2B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400" b="0" i="0">
                          <a:solidFill>
                            <a:srgbClr val="2B2B2B"/>
                          </a:solidFill>
                          <a:latin typeface="Calibri"/>
                        </a:rPr>
                        <a:t>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 lIns="72000" rIns="72000" tIns="28800" bIns="28800"/>
                    <a:lstStyle/>
                    <a:p>
                      <a:pPr algn="l"/>
                      <a:r>
                        <a:rPr sz="2400" b="1" i="0">
                          <a:solidFill>
                            <a:srgbClr val="C0392B"/>
                          </a:solidFill>
                          <a:latin typeface="Calibri"/>
                        </a:rPr>
                        <a:t>S + T</a:t>
                      </a:r>
                    </a:p>
                  </a:txBody>
                  <a:tcPr>
                    <a:solidFill>
                      <a:srgbClr val="FDF1EE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400" b="1" i="0">
                          <a:solidFill>
                            <a:srgbClr val="C0392B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>
                    <a:solidFill>
                      <a:srgbClr val="FDF1EE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400" b="1" i="0">
                          <a:solidFill>
                            <a:srgbClr val="C0392B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>
                    <a:solidFill>
                      <a:srgbClr val="FDF1EE"/>
                    </a:solidFill>
                  </a:tcPr>
                </a:tc>
              </a:tr>
              <a:tr h="720000">
                <a:tc>
                  <a:txBody>
                    <a:bodyPr lIns="72000" rIns="72000" tIns="28800" bIns="28800"/>
                    <a:lstStyle/>
                    <a:p>
                      <a:pPr algn="l"/>
                      <a:r>
                        <a:rPr sz="2400" b="0" i="0">
                          <a:solidFill>
                            <a:srgbClr val="2B2B2B"/>
                          </a:solidFill>
                          <a:latin typeface="Calibri"/>
                        </a:rPr>
                        <a:t>S + T +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400" b="0" i="0">
                          <a:solidFill>
                            <a:srgbClr val="2B2B2B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400" b="0" i="0">
                          <a:solidFill>
                            <a:srgbClr val="2B2B2B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20484000" y="10080000"/>
            <a:ext cx="8892000" cy="1620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100" b="1" i="0">
                <a:solidFill>
                  <a:srgbClr val="C0392B"/>
                </a:solidFill>
                <a:latin typeface="Calibri"/>
              </a:rPr>
              <a:t>•  + T   → </a:t>
            </a:r>
            <a:r>
              <a:rPr sz="2100" b="0" i="0">
                <a:solidFill>
                  <a:srgbClr val="2B2B2B"/>
                </a:solidFill>
                <a:latin typeface="Calibri"/>
              </a:rPr>
              <a:t>largest, most consistent jump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100" b="1" i="0">
                <a:solidFill>
                  <a:srgbClr val="C0392B"/>
                </a:solidFill>
                <a:latin typeface="Calibri"/>
              </a:rPr>
              <a:t>•  + C   → </a:t>
            </a:r>
            <a:r>
              <a:rPr sz="2100" b="0" i="0">
                <a:solidFill>
                  <a:srgbClr val="2B2B2B"/>
                </a:solidFill>
                <a:latin typeface="Calibri"/>
              </a:rPr>
              <a:t>further PR-AUC gain; ROC near saturation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1">
                <a:solidFill>
                  <a:srgbClr val="6E6E6E"/>
                </a:solidFill>
                <a:latin typeface="Calibri"/>
              </a:rPr>
              <a:t>•  LR shows the same ordering at lower absolute PR-AUC.</a:t>
            </a:r>
          </a:p>
        </p:txBody>
      </p:sp>
      <p:pic>
        <p:nvPicPr>
          <p:cNvPr id="51" name="Picture 50" descr="test_rf_p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4000" y="11880000"/>
            <a:ext cx="8892000" cy="698657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20484000" y="15881400"/>
            <a:ext cx="8892000" cy="324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1600" b="0" i="1">
                <a:solidFill>
                  <a:srgbClr val="6E6E6E"/>
                </a:solidFill>
                <a:latin typeface="Calibri"/>
              </a:rPr>
              <a:t>Fig 2 — RF precision-recall curves on the test fold.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0304000" y="17280000"/>
            <a:ext cx="9252000" cy="9360000"/>
          </a:xfrm>
          <a:prstGeom prst="roundRect">
            <a:avLst>
              <a:gd name="adj" fmla="val 4000"/>
            </a:avLst>
          </a:prstGeom>
          <a:solidFill>
            <a:srgbClr val="F7F8FB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412000" y="17316000"/>
            <a:ext cx="9036000" cy="612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3400" b="1" i="0">
                <a:solidFill>
                  <a:srgbClr val="102A55"/>
                </a:solidFill>
                <a:latin typeface="Calibri"/>
              </a:rPr>
              <a:t>8   ·   Interpretation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412000" y="17982000"/>
            <a:ext cx="9036000" cy="180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484000" y="18180000"/>
            <a:ext cx="8892000" cy="3240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i="0">
                <a:solidFill>
                  <a:srgbClr val="C0392B"/>
                </a:solidFill>
                <a:latin typeface="Calibri"/>
              </a:rPr>
              <a:t>Temporal information dominates.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Recency and decayed activity drive importance in both models.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i="0">
                <a:solidFill>
                  <a:srgbClr val="C0392B"/>
                </a:solidFill>
                <a:latin typeface="Calibri"/>
              </a:rPr>
              <a:t>Community-aware features add a nuanced refinement.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Mostly on PR-AUC; ROC-AUC is already saturated.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i="0">
                <a:solidFill>
                  <a:srgbClr val="C0392B"/>
                </a:solidFill>
                <a:latin typeface="Calibri"/>
              </a:rPr>
              <a:t>Naive cross-community-distrust is NOT supported.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At the pair level, neighborhood overlap is the strongest community signal — distrust appears on weakly-embedded ties.</a:t>
            </a:r>
          </a:p>
        </p:txBody>
      </p:sp>
      <p:pic>
        <p:nvPicPr>
          <p:cNvPr id="57" name="Picture 56" descr="same_vs_cross_positive_r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4000" y="21600000"/>
            <a:ext cx="8172000" cy="525342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0484000" y="26911800"/>
            <a:ext cx="8892000" cy="324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1600" b="0" i="1">
                <a:solidFill>
                  <a:srgbClr val="6E6E6E"/>
                </a:solidFill>
                <a:latin typeface="Calibri"/>
              </a:rPr>
              <a:t>Fig 3 — Training positive rate: same vs cross-community pairs.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0304000" y="27000000"/>
            <a:ext cx="9252000" cy="11844000"/>
          </a:xfrm>
          <a:prstGeom prst="roundRect">
            <a:avLst>
              <a:gd name="adj" fmla="val 4000"/>
            </a:avLst>
          </a:prstGeom>
          <a:solidFill>
            <a:srgbClr val="F7F8FB"/>
          </a:solidFill>
          <a:ln w="9525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412000" y="27035999"/>
            <a:ext cx="9036000" cy="612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3400" b="1" i="0">
                <a:solidFill>
                  <a:srgbClr val="102A55"/>
                </a:solidFill>
                <a:latin typeface="Calibri"/>
              </a:rPr>
              <a:t>9   ·   Conclusion &amp; Future Work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412000" y="27702000"/>
            <a:ext cx="9036000" cy="180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484000" y="27900000"/>
            <a:ext cx="8892000" cy="10764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300" b="1" i="0">
                <a:solidFill>
                  <a:srgbClr val="102A55"/>
                </a:solidFill>
                <a:latin typeface="Calibri"/>
              </a:rPr>
              <a:t>This project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100" b="0" i="0">
                <a:solidFill>
                  <a:srgbClr val="2B2B2B"/>
                </a:solidFill>
                <a:latin typeface="Calibri"/>
              </a:rPr>
              <a:t>•  A precise temporal signed-network task, defined end-to-end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100" b="0" i="0">
                <a:solidFill>
                  <a:srgbClr val="2B2B2B"/>
                </a:solidFill>
                <a:latin typeface="Calibri"/>
              </a:rPr>
              <a:t>•  An interpretable, leakage-controlled feature pipeline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100" b="0" i="0">
                <a:solidFill>
                  <a:srgbClr val="2B2B2B"/>
                </a:solidFill>
                <a:latin typeface="Calibri"/>
              </a:rPr>
              <a:t>•  </a:t>
            </a:r>
            <a:r>
              <a:rPr sz="2100" b="1" i="0">
                <a:solidFill>
                  <a:srgbClr val="C0392B"/>
                </a:solidFill>
                <a:latin typeface="Calibri"/>
              </a:rPr>
              <a:t>Temporal features → strongest, most consistent improvement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100" b="0" i="0">
                <a:solidFill>
                  <a:srgbClr val="2B2B2B"/>
                </a:solidFill>
                <a:latin typeface="Calibri"/>
              </a:rPr>
              <a:t>•  Community features → smaller, nuanced refinement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300" b="1" i="0">
                <a:solidFill>
                  <a:srgbClr val="102A55"/>
                </a:solidFill>
                <a:latin typeface="Calibri"/>
              </a:rPr>
              <a:t>Future work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100" b="0" i="0">
                <a:solidFill>
                  <a:srgbClr val="2B2B2B"/>
                </a:solidFill>
                <a:latin typeface="Calibri"/>
              </a:rPr>
              <a:t>•  External replication on Bitcoin-Alpha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100" b="0" i="0">
                <a:solidFill>
                  <a:srgbClr val="2B2B2B"/>
                </a:solidFill>
                <a:latin typeface="Calibri"/>
              </a:rPr>
              <a:t>•  Stronger learning baselines and graph embeddings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100" b="0" i="0">
                <a:solidFill>
                  <a:srgbClr val="2B2B2B"/>
                </a:solidFill>
                <a:latin typeface="Calibri"/>
              </a:rPr>
              <a:t>•  Conditional analyses of community signal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0000" y="39384000"/>
            <a:ext cx="28835999" cy="2880000"/>
          </a:xfrm>
          <a:prstGeom prst="roundRect">
            <a:avLst>
              <a:gd name="adj" fmla="val 4000"/>
            </a:avLst>
          </a:prstGeom>
          <a:solidFill>
            <a:srgbClr val="F1F3F8"/>
          </a:solidFill>
          <a:ln w="9525">
            <a:solidFill>
              <a:srgbClr val="10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7999" y="39420000"/>
            <a:ext cx="28620000" cy="612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3400" b="1" i="0">
                <a:solidFill>
                  <a:srgbClr val="102A55"/>
                </a:solidFill>
                <a:latin typeface="Calibri"/>
              </a:rPr>
              <a:t>10   ·   Additional Validation   ·   Robustness consistent with the main story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7999" y="40086000"/>
            <a:ext cx="28620000" cy="180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7999" y="40284000"/>
            <a:ext cx="9432000" cy="1800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102A55"/>
                </a:solidFill>
                <a:latin typeface="Calibri"/>
              </a:rPr>
              <a:t>Rolling-origin evaluation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25 disjoint monthly test folds · 425 positives total.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Wilcoxon p ≤ 1.4 × 10⁻⁴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 for the (S+T) − S ROC-AUC delta under both models, after Holm-Bonferroni correction.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30000" y="40284000"/>
            <a:ext cx="9432000" cy="1800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102A55"/>
                </a:solidFill>
                <a:latin typeface="Calibri"/>
              </a:rPr>
              <a:t>Recency-only baseline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A parameter-free recency-only ranker reaches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C0392B"/>
                </a:solidFill>
                <a:latin typeface="Calibri"/>
              </a:rPr>
              <a:t>ROC-AUC ≈ 0.89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 — the temporal signal is robust and supported by simple recency information.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232000" y="40284000"/>
            <a:ext cx="9432000" cy="1800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102A55"/>
                </a:solidFill>
                <a:latin typeface="Calibri"/>
              </a:rPr>
              <a:t>Bootstrap (B = 1000)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Paired stratified bootstrap on the locked fold.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95% percentile CIs agree with the across-fold results; no contradictions.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0000" y="42300000"/>
            <a:ext cx="28835999" cy="432000"/>
          </a:xfrm>
          <a:prstGeom prst="rect">
            <a:avLst/>
          </a:prstGeom>
          <a:noFill/>
        </p:spPr>
        <p:txBody>
          <a:bodyPr wrap="square" lIns="72000" rIns="72000" tIns="36000" bIns="36000">
            <a:spAutoFit/>
          </a:bodyPr>
          <a:lstStyle/>
          <a:p>
            <a:pPr algn="l"/>
            <a:r>
              <a:rPr sz="1500" b="1" i="0">
                <a:solidFill>
                  <a:srgbClr val="102A55"/>
                </a:solidFill>
                <a:latin typeface="Calibri"/>
              </a:rPr>
              <a:t>References: 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Kumar et al. (ICDM 2016)  ·  Blondel et al. (J Stat Mech 2008)  ·  Bertazzi et al. (SocInfo 2018)  ·  Leskovec &amp; Krevl, SNAP (2014).</a:t>
            </a:r>
          </a:p>
          <a:p>
            <a:pPr algn="l"/>
            <a:r>
              <a:rPr sz="1500" b="1" i="0">
                <a:solidFill>
                  <a:srgbClr val="102A55"/>
                </a:solidFill>
                <a:latin typeface="Calibri"/>
              </a:rPr>
              <a:t>Reproducibility: 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all seeds fixed at 42 · code organized in src/ and scripts/ · intermediate artifacts persisted under data/ and results/.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