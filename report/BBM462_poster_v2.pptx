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275999" cy="4280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0275999" cy="4140000"/>
          </a:xfrm>
          <a:prstGeom prst="rect">
            <a:avLst/>
          </a:prstGeom>
          <a:solidFill>
            <a:srgbClr val="1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20000" y="503999"/>
            <a:ext cx="28835999" cy="363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800" b="1" i="0">
                <a:solidFill>
                  <a:srgbClr val="FFFFFF"/>
                </a:solidFill>
                <a:latin typeface="Calibri"/>
              </a:rPr>
              <a:t>Early Warning of Distrust in Bitcoin-OTC</a:t>
            </a:r>
          </a:p>
          <a:p>
            <a:pPr algn="l">
              <a:spcBef>
                <a:spcPts val="1000"/>
              </a:spcBef>
            </a:pPr>
            <a:r>
              <a:rPr sz="3000" b="0" i="1">
                <a:solidFill>
                  <a:srgbClr val="CFD8E6"/>
                </a:solidFill>
                <a:latin typeface="Calibri"/>
              </a:rPr>
              <a:t>An Interpretable Temporal-Network Pipeline for Predicting New Negative Trust Edges</a:t>
            </a:r>
          </a:p>
          <a:p>
            <a:pPr algn="l">
              <a:spcBef>
                <a:spcPts val="1800"/>
              </a:spcBef>
            </a:pPr>
            <a:r>
              <a:rPr sz="2000" b="0" i="0">
                <a:solidFill>
                  <a:srgbClr val="E8ECF2"/>
                </a:solidFill>
                <a:latin typeface="Calibri"/>
              </a:rPr>
              <a:t>Ömer Faruk Güler   ·   Hacettepe University   ·   BBM462 Final Project   ·   omer55glr@gmail.com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4680000"/>
            <a:ext cx="30275999" cy="3420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4968000"/>
            <a:ext cx="28835999" cy="115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400" b="1" i="0">
                <a:solidFill>
                  <a:srgbClr val="102A55"/>
                </a:solidFill>
                <a:latin typeface="Calibri"/>
              </a:rPr>
              <a:t>Forecasting where distrust will appear, </a:t>
            </a:r>
            <a:r>
              <a:rPr sz="5400" b="1" i="0">
                <a:solidFill>
                  <a:srgbClr val="C0392B"/>
                </a:solidFill>
                <a:latin typeface="Calibri"/>
              </a:rPr>
              <a:t>one month before it happens.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6336000"/>
            <a:ext cx="28835999" cy="1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2400" b="0" i="0">
                <a:solidFill>
                  <a:srgbClr val="2B2B2B"/>
                </a:solidFill>
                <a:latin typeface="Calibri"/>
              </a:rPr>
              <a:t>Negative ratings in trust marketplaces are rare, time-sensitive, and high-stakes — yet there is no principled framework for predicting, at the pair level, where new distrust will emerge next.</a:t>
            </a:r>
          </a:p>
          <a:p>
            <a:pPr algn="l">
              <a:lnSpc>
                <a:spcPct val="125000"/>
              </a:lnSpc>
            </a:pPr>
            <a:r>
              <a:rPr sz="2400" b="1" i="0">
                <a:solidFill>
                  <a:srgbClr val="102A55"/>
                </a:solidFill>
                <a:latin typeface="Calibri"/>
              </a:rPr>
              <a:t>We ask: </a:t>
            </a:r>
            <a:r>
              <a:rPr sz="2400" b="0" i="1">
                <a:solidFill>
                  <a:srgbClr val="2B2B2B"/>
                </a:solidFill>
                <a:latin typeface="Calibri"/>
              </a:rPr>
              <a:t>at the end of month  t,  can we rank user pairs  (u, v)  by their probability of receiving a new negative directed rating in the window  (t, t + 1]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8820000"/>
            <a:ext cx="6480000" cy="61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02A55"/>
                </a:solidFill>
                <a:latin typeface="Calibri"/>
              </a:rPr>
              <a:t>Context</a:t>
            </a:r>
          </a:p>
        </p:txBody>
      </p:sp>
      <p:sp>
        <p:nvSpPr>
          <p:cNvPr id="8" name="Rectangle 7"/>
          <p:cNvSpPr/>
          <p:nvPr/>
        </p:nvSpPr>
        <p:spPr>
          <a:xfrm>
            <a:off x="720000" y="9378000"/>
            <a:ext cx="2721600" cy="36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0000" y="9576000"/>
            <a:ext cx="6480000" cy="21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300" b="1" i="0">
                <a:solidFill>
                  <a:srgbClr val="102A55"/>
                </a:solidFill>
                <a:latin typeface="Calibri"/>
              </a:rPr>
              <a:t>Why this is hard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000" b="0" i="0">
                <a:solidFill>
                  <a:srgbClr val="2B2B2B"/>
                </a:solidFill>
                <a:latin typeface="Calibri"/>
              </a:rPr>
              <a:t>•  Sign-dependent — any edge ≠ negative edge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000" b="0" i="0">
                <a:solidFill>
                  <a:srgbClr val="2B2B2B"/>
                </a:solidFill>
                <a:latin typeface="Calibri"/>
              </a:rPr>
              <a:t>•  Heavily imbalanced — new monthly negatives are rare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000" b="0" i="0">
                <a:solidFill>
                  <a:srgbClr val="2B2B2B"/>
                </a:solidFill>
                <a:latin typeface="Calibri"/>
              </a:rPr>
              <a:t>•  Strict temporal causality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000" b="0" i="0">
                <a:solidFill>
                  <a:srgbClr val="2B2B2B"/>
                </a:solidFill>
                <a:latin typeface="Calibri"/>
              </a:rPr>
              <a:t>•  Ranking metrics: ROC-AUC, PR-AUC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0000" y="13716000"/>
            <a:ext cx="6480000" cy="21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300" b="1" i="0">
                <a:solidFill>
                  <a:srgbClr val="102A55"/>
                </a:solidFill>
                <a:latin typeface="Calibri"/>
              </a:rPr>
              <a:t>Dataset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200" b="1" i="0">
                <a:solidFill>
                  <a:srgbClr val="2B2B2B"/>
                </a:solidFill>
                <a:latin typeface="Calibri"/>
              </a:rPr>
              <a:t>Bitcoin-OTC</a:t>
            </a:r>
            <a:r>
              <a:rPr sz="1800" b="0" i="1">
                <a:solidFill>
                  <a:srgbClr val="6E6E6E"/>
                </a:solidFill>
                <a:latin typeface="Calibri"/>
              </a:rPr>
              <a:t>  (SNAP)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000" b="0" i="0">
                <a:solidFill>
                  <a:srgbClr val="2B2B2B"/>
                </a:solidFill>
                <a:latin typeface="Calibri"/>
              </a:rPr>
              <a:t>35,592 ratings · 5,881 users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000" b="0" i="0">
                <a:solidFill>
                  <a:srgbClr val="2B2B2B"/>
                </a:solidFill>
                <a:latin typeface="Calibri"/>
              </a:rPr>
              <a:t>Nov 2010 — Jan 2016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800" b="0" i="0">
                <a:solidFill>
                  <a:srgbClr val="2B2B2B"/>
                </a:solidFill>
                <a:latin typeface="Calibri"/>
              </a:rPr>
              <a:t>Edge:  </a:t>
            </a:r>
            <a:r>
              <a:rPr sz="1800" b="0" i="1">
                <a:solidFill>
                  <a:srgbClr val="2B2B2B"/>
                </a:solidFill>
                <a:latin typeface="Calibri"/>
              </a:rPr>
              <a:t>(u → v, rating ∈ [−10, +10], ts)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000" b="0" i="0">
                <a:solidFill>
                  <a:srgbClr val="2B2B2B"/>
                </a:solidFill>
                <a:latin typeface="Calibri"/>
              </a:rPr>
              <a:t>≈ 90 % positive · ≈ 10 % negative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000" b="0" i="0">
                <a:solidFill>
                  <a:srgbClr val="2B2B2B"/>
                </a:solidFill>
                <a:latin typeface="Calibri"/>
              </a:rPr>
              <a:t>reciprocity 0.79</a:t>
            </a:r>
          </a:p>
        </p:txBody>
      </p:sp>
      <p:pic>
        <p:nvPicPr>
          <p:cNvPr id="11" name="Picture 10" descr="edges_per_mon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00" y="19296000"/>
            <a:ext cx="6480000" cy="2835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20000" y="22212000"/>
            <a:ext cx="6480000" cy="5039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6E6E6E"/>
                </a:solidFill>
                <a:latin typeface="Calibri"/>
              </a:rPr>
              <a:t>Monthly interaction volume (2010 – 2016).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48000" y="8820000"/>
            <a:ext cx="11699999" cy="61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02A55"/>
                </a:solidFill>
                <a:latin typeface="Calibri"/>
              </a:rPr>
              <a:t>Our Approach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48000" y="9378000"/>
            <a:ext cx="4913999" cy="36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48000" y="9576000"/>
            <a:ext cx="11699999" cy="21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600" b="1" i="0">
                <a:solidFill>
                  <a:srgbClr val="C0392B"/>
                </a:solidFill>
                <a:latin typeface="Calibri"/>
              </a:rPr>
              <a:t>We developed an interpretable, leakage-controlled prediction pipeline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200" b="0" i="1">
                <a:solidFill>
                  <a:srgbClr val="354C76"/>
                </a:solidFill>
                <a:latin typeface="Calibri"/>
              </a:rPr>
              <a:t>for new negative trust edges in a temporal signed network.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48000" y="11196000"/>
            <a:ext cx="2051999" cy="208800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240">
            <a:solidFill>
              <a:srgbClr val="102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 tIns="90000" bIns="90000" wrap="square"/>
          <a:lstStyle/>
          <a:p>
            <a:pPr algn="ctr"/>
            <a:r>
              <a:rPr sz="2400" b="1" i="0">
                <a:solidFill>
                  <a:srgbClr val="102A55"/>
                </a:solidFill>
                <a:latin typeface="Calibri"/>
              </a:rPr>
              <a:t>Raw events</a:t>
            </a:r>
          </a:p>
          <a:p>
            <a:pPr algn="ctr">
              <a:spcBef>
                <a:spcPts val="400"/>
              </a:spcBef>
            </a:pPr>
            <a:r>
              <a:rPr sz="1400" b="0" i="1">
                <a:solidFill>
                  <a:srgbClr val="6E6E6E"/>
                </a:solidFill>
                <a:latin typeface="Calibri"/>
              </a:rPr>
              <a:t>u → v, rating, ts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918000" y="12060000"/>
            <a:ext cx="324000" cy="360000"/>
          </a:xfrm>
          <a:prstGeom prst="rightArrow">
            <a:avLst/>
          </a:prstGeom>
          <a:solidFill>
            <a:srgbClr val="1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0260000" y="11196000"/>
            <a:ext cx="2051999" cy="208800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240">
            <a:solidFill>
              <a:srgbClr val="102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 tIns="90000" bIns="90000" wrap="square"/>
          <a:lstStyle/>
          <a:p>
            <a:pPr algn="ctr"/>
            <a:r>
              <a:rPr sz="2400" b="1" i="0">
                <a:solidFill>
                  <a:srgbClr val="102A55"/>
                </a:solidFill>
                <a:latin typeface="Calibri"/>
              </a:rPr>
              <a:t>Snapshots</a:t>
            </a:r>
          </a:p>
          <a:p>
            <a:pPr algn="ctr">
              <a:spcBef>
                <a:spcPts val="400"/>
              </a:spcBef>
            </a:pPr>
            <a:r>
              <a:rPr sz="1400" b="0" i="1">
                <a:solidFill>
                  <a:srgbClr val="6E6E6E"/>
                </a:solidFill>
                <a:latin typeface="Calibri"/>
              </a:rPr>
              <a:t>monthly, cumulative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12329999" y="12060000"/>
            <a:ext cx="324000" cy="360000"/>
          </a:xfrm>
          <a:prstGeom prst="rightArrow">
            <a:avLst/>
          </a:prstGeom>
          <a:solidFill>
            <a:srgbClr val="1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2671999" y="11196000"/>
            <a:ext cx="2051999" cy="208800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240">
            <a:solidFill>
              <a:srgbClr val="102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 tIns="90000" bIns="90000" wrap="square"/>
          <a:lstStyle/>
          <a:p>
            <a:pPr algn="ctr"/>
            <a:r>
              <a:rPr sz="2400" b="1" i="0">
                <a:solidFill>
                  <a:srgbClr val="102A55"/>
                </a:solidFill>
                <a:latin typeface="Calibri"/>
              </a:rPr>
              <a:t>Candidates</a:t>
            </a:r>
          </a:p>
          <a:p>
            <a:pPr algn="ctr">
              <a:spcBef>
                <a:spcPts val="400"/>
              </a:spcBef>
            </a:pPr>
            <a:r>
              <a:rPr sz="1400" b="0" i="1">
                <a:solidFill>
                  <a:srgbClr val="6E6E6E"/>
                </a:solidFill>
                <a:latin typeface="Calibri"/>
              </a:rPr>
              <a:t>+ labels (2-hop, core)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14741999" y="12060000"/>
            <a:ext cx="324000" cy="360000"/>
          </a:xfrm>
          <a:prstGeom prst="rightArrow">
            <a:avLst/>
          </a:prstGeom>
          <a:solidFill>
            <a:srgbClr val="1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5083999" y="11196000"/>
            <a:ext cx="2051999" cy="208800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240">
            <a:solidFill>
              <a:srgbClr val="102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 tIns="90000" bIns="90000" wrap="square"/>
          <a:lstStyle/>
          <a:p>
            <a:pPr algn="ctr"/>
            <a:r>
              <a:rPr sz="2400" b="1" i="0">
                <a:solidFill>
                  <a:srgbClr val="102A55"/>
                </a:solidFill>
                <a:latin typeface="Calibri"/>
              </a:rPr>
              <a:t>36 features</a:t>
            </a:r>
          </a:p>
          <a:p>
            <a:pPr algn="ctr">
              <a:spcBef>
                <a:spcPts val="400"/>
              </a:spcBef>
            </a:pPr>
            <a:r>
              <a:rPr sz="1400" b="0" i="1">
                <a:solidFill>
                  <a:srgbClr val="6E6E6E"/>
                </a:solidFill>
                <a:latin typeface="Calibri"/>
              </a:rPr>
              <a:t>5 interpretable families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17153999" y="12060000"/>
            <a:ext cx="324000" cy="360000"/>
          </a:xfrm>
          <a:prstGeom prst="rightArrow">
            <a:avLst/>
          </a:prstGeom>
          <a:solidFill>
            <a:srgbClr val="1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7495999" y="11196000"/>
            <a:ext cx="2051999" cy="2088000"/>
          </a:xfrm>
          <a:prstGeom prst="roundRect">
            <a:avLst>
              <a:gd name="adj" fmla="val 10000"/>
            </a:avLst>
          </a:prstGeom>
          <a:solidFill>
            <a:srgbClr val="F6F8FB"/>
          </a:solidFill>
          <a:ln w="15240">
            <a:solidFill>
              <a:srgbClr val="102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2000" rIns="72000" tIns="90000" bIns="90000" wrap="square"/>
          <a:lstStyle/>
          <a:p>
            <a:pPr algn="ctr"/>
            <a:r>
              <a:rPr sz="2400" b="1" i="0">
                <a:solidFill>
                  <a:srgbClr val="102A55"/>
                </a:solidFill>
                <a:latin typeface="Calibri"/>
              </a:rPr>
              <a:t>Models</a:t>
            </a:r>
          </a:p>
          <a:p>
            <a:pPr algn="ctr">
              <a:spcBef>
                <a:spcPts val="400"/>
              </a:spcBef>
            </a:pPr>
            <a:r>
              <a:rPr sz="1400" b="0" i="1">
                <a:solidFill>
                  <a:srgbClr val="6E6E6E"/>
                </a:solidFill>
                <a:latin typeface="Calibri"/>
              </a:rPr>
              <a:t>LR  /  RF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48000" y="13356000"/>
            <a:ext cx="11699999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 i="1">
                <a:solidFill>
                  <a:srgbClr val="6E6E6E"/>
                </a:solidFill>
                <a:latin typeface="Calibri"/>
              </a:rPr>
              <a:t>Leakage boundary:  only events with  ts ≤ end_of_month(t)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48000" y="13464000"/>
            <a:ext cx="11699999" cy="21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2400" b="1" i="0">
                <a:solidFill>
                  <a:srgbClr val="102A55"/>
                </a:solidFill>
                <a:latin typeface="Calibri"/>
              </a:rPr>
              <a:t>Feature families  </a:t>
            </a:r>
            <a:r>
              <a:rPr sz="2000" b="0" i="1">
                <a:solidFill>
                  <a:srgbClr val="6E6E6E"/>
                </a:solidFill>
                <a:latin typeface="Calibri"/>
              </a:rPr>
              <a:t>·  36 features in 4 interpretable groups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848000" y="13931999"/>
            <a:ext cx="2789999" cy="1800000"/>
          </a:xfrm>
          <a:prstGeom prst="roundRect">
            <a:avLst>
              <a:gd name="adj" fmla="val 8000"/>
            </a:avLst>
          </a:prstGeom>
          <a:solidFill>
            <a:srgbClr val="EEEEEE"/>
          </a:solidFill>
          <a:ln w="6350">
            <a:solidFill>
              <a:srgbClr val="CF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 rIns="108000" tIns="90000" bIns="90000" wrap="square"/>
          <a:lstStyle/>
          <a:p>
            <a:pPr algn="l"/>
            <a:r>
              <a:rPr sz="2200" b="1" i="0">
                <a:solidFill>
                  <a:srgbClr val="C0392B"/>
                </a:solidFill>
                <a:latin typeface="Calibri"/>
              </a:rPr>
              <a:t>S</a:t>
            </a:r>
            <a:r>
              <a:rPr sz="2000" b="1" i="0">
                <a:solidFill>
                  <a:srgbClr val="102A55"/>
                </a:solidFill>
                <a:latin typeface="Calibri"/>
              </a:rPr>
              <a:t>  Structural · 12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2B2B2B"/>
                </a:solidFill>
                <a:latin typeface="Calibri"/>
              </a:rPr>
              <a:t>CN · Jaccard · AA · PA · signed degrees · reciprocity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817999" y="13931999"/>
            <a:ext cx="2789999" cy="1800000"/>
          </a:xfrm>
          <a:prstGeom prst="roundRect">
            <a:avLst>
              <a:gd name="adj" fmla="val 8000"/>
            </a:avLst>
          </a:prstGeom>
          <a:solidFill>
            <a:srgbClr val="E7ECF4"/>
          </a:solidFill>
          <a:ln w="6350">
            <a:solidFill>
              <a:srgbClr val="CF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 rIns="108000" tIns="90000" bIns="90000" wrap="square"/>
          <a:lstStyle/>
          <a:p>
            <a:pPr algn="l"/>
            <a:r>
              <a:rPr sz="2200" b="1" i="0">
                <a:solidFill>
                  <a:srgbClr val="C0392B"/>
                </a:solidFill>
                <a:latin typeface="Calibri"/>
              </a:rPr>
              <a:t>+</a:t>
            </a:r>
            <a:r>
              <a:rPr sz="2000" b="1" i="0">
                <a:solidFill>
                  <a:srgbClr val="102A55"/>
                </a:solidFill>
                <a:latin typeface="Calibri"/>
              </a:rPr>
              <a:t>  Trust-summary · 4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2B2B2B"/>
                </a:solidFill>
                <a:latin typeface="Calibri"/>
              </a:rPr>
              <a:t>mean rating given/received · negative ratios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3787999" y="13931999"/>
            <a:ext cx="2789999" cy="1800000"/>
          </a:xfrm>
          <a:prstGeom prst="roundRect">
            <a:avLst>
              <a:gd name="adj" fmla="val 8000"/>
            </a:avLst>
          </a:prstGeom>
          <a:solidFill>
            <a:srgbClr val="FBE5DF"/>
          </a:solidFill>
          <a:ln w="6350">
            <a:solidFill>
              <a:srgbClr val="CF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 rIns="108000" tIns="90000" bIns="90000" wrap="square"/>
          <a:lstStyle/>
          <a:p>
            <a:pPr algn="l"/>
            <a:r>
              <a:rPr sz="2200" b="1" i="0">
                <a:solidFill>
                  <a:srgbClr val="C0392B"/>
                </a:solidFill>
                <a:latin typeface="Calibri"/>
              </a:rPr>
              <a:t>+T</a:t>
            </a:r>
            <a:r>
              <a:rPr sz="2000" b="1" i="0">
                <a:solidFill>
                  <a:srgbClr val="102A55"/>
                </a:solidFill>
                <a:latin typeface="Calibri"/>
              </a:rPr>
              <a:t>  Temporal · 12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2B2B2B"/>
                </a:solidFill>
                <a:latin typeface="Calibri"/>
              </a:rPr>
              <a:t>recency · recent counts · decayed aggregates (τ = 60 d)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6757999" y="13931999"/>
            <a:ext cx="2789999" cy="1800000"/>
          </a:xfrm>
          <a:prstGeom prst="roundRect">
            <a:avLst>
              <a:gd name="adj" fmla="val 8000"/>
            </a:avLst>
          </a:prstGeom>
          <a:solidFill>
            <a:srgbClr val="E3EEE4"/>
          </a:solidFill>
          <a:ln w="6350">
            <a:solidFill>
              <a:srgbClr val="CFD5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8000" rIns="108000" tIns="90000" bIns="90000" wrap="square"/>
          <a:lstStyle/>
          <a:p>
            <a:pPr algn="l"/>
            <a:r>
              <a:rPr sz="2200" b="1" i="0">
                <a:solidFill>
                  <a:srgbClr val="C0392B"/>
                </a:solidFill>
                <a:latin typeface="Calibri"/>
              </a:rPr>
              <a:t>+C</a:t>
            </a:r>
            <a:r>
              <a:rPr sz="2000" b="1" i="0">
                <a:solidFill>
                  <a:srgbClr val="102A55"/>
                </a:solidFill>
                <a:latin typeface="Calibri"/>
              </a:rPr>
              <a:t>  Community · 8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2B2B2B"/>
                </a:solidFill>
                <a:latin typeface="Calibri"/>
              </a:rPr>
              <a:t>Louvain · same_community · neighborhood overlap · boundary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48000" y="16091999"/>
            <a:ext cx="11699999" cy="21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2200" b="1" i="0">
                <a:solidFill>
                  <a:srgbClr val="102A55"/>
                </a:solidFill>
                <a:latin typeface="Calibri"/>
              </a:rPr>
              <a:t>Models  </a:t>
            </a:r>
            <a:r>
              <a:rPr sz="2200" b="0" i="0">
                <a:solidFill>
                  <a:srgbClr val="2B2B2B"/>
                </a:solidFill>
                <a:latin typeface="Calibri"/>
              </a:rPr>
              <a:t>Logistic Regression  ·  Random Forest</a:t>
            </a:r>
            <a:r>
              <a:rPr sz="1800" b="0" i="1">
                <a:solidFill>
                  <a:srgbClr val="6E6E6E"/>
                </a:solidFill>
                <a:latin typeface="Calibri"/>
              </a:rPr>
              <a:t>    no hyperparameter tuning · seeds = 42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48000" y="16812000"/>
            <a:ext cx="11699999" cy="21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2200" b="1" i="0">
                <a:solidFill>
                  <a:srgbClr val="102A55"/>
                </a:solidFill>
                <a:latin typeface="Calibri"/>
              </a:rPr>
              <a:t>Evaluation  </a:t>
            </a:r>
            <a:r>
              <a:rPr sz="1800" b="0" i="1">
                <a:solidFill>
                  <a:srgbClr val="6E6E6E"/>
                </a:solidFill>
                <a:latin typeface="Calibri"/>
              </a:rPr>
              <a:t>forward-time split, ranking metrics</a:t>
            </a:r>
          </a:p>
        </p:txBody>
      </p:sp>
      <p:graphicFrame>
        <p:nvGraphicFramePr>
          <p:cNvPr id="33" name="Table 32"/>
          <p:cNvGraphicFramePr>
            <a:graphicFrameLocks noGrp="1"/>
          </p:cNvGraphicFramePr>
          <p:nvPr/>
        </p:nvGraphicFramePr>
        <p:xfrm>
          <a:off x="7848000" y="17532000"/>
          <a:ext cx="11699996" cy="23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5999"/>
                <a:gridCol w="4094999"/>
                <a:gridCol w="2807999"/>
                <a:gridCol w="2690999"/>
              </a:tblGrid>
              <a:tr h="585000">
                <a:tc>
                  <a:txBody>
                    <a:bodyPr lIns="72000" rIns="72000" tIns="28800" bIns="28800"/>
                    <a:lstStyle/>
                    <a:p>
                      <a:pPr algn="l"/>
                      <a:r>
                        <a:rPr sz="2000" b="1" i="0">
                          <a:solidFill>
                            <a:srgbClr val="102A55"/>
                          </a:solidFill>
                          <a:latin typeface="Calibri"/>
                        </a:rPr>
                        <a:t>Split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72000" rIns="72000" tIns="28800" bIns="28800"/>
                    <a:lstStyle/>
                    <a:p>
                      <a:pPr algn="ctr"/>
                      <a:r>
                        <a:rPr sz="2000" b="1" i="0">
                          <a:solidFill>
                            <a:srgbClr val="102A55"/>
                          </a:solidFill>
                          <a:latin typeface="Calibri"/>
                        </a:rPr>
                        <a:t>Months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72000" rIns="72000" tIns="28800" bIns="28800"/>
                    <a:lstStyle/>
                    <a:p>
                      <a:pPr algn="ctr"/>
                      <a:r>
                        <a:rPr sz="2000" b="1" i="0">
                          <a:solidFill>
                            <a:srgbClr val="102A55"/>
                          </a:solidFill>
                          <a:latin typeface="Calibri"/>
                        </a:rPr>
                        <a:t>Pairs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72000" rIns="72000" tIns="28800" bIns="28800"/>
                    <a:lstStyle/>
                    <a:p>
                      <a:pPr algn="ctr"/>
                      <a:r>
                        <a:rPr sz="2000" b="1" i="0">
                          <a:solidFill>
                            <a:srgbClr val="102A55"/>
                          </a:solidFill>
                          <a:latin typeface="Calibri"/>
                        </a:rPr>
                        <a:t>Positives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</a:tr>
              <a:tr h="585000">
                <a:tc>
                  <a:txBody>
                    <a:bodyPr lIns="72000" rIns="72000" tIns="28800" bIns="28800"/>
                    <a:lstStyle/>
                    <a:p>
                      <a:pPr algn="l"/>
                      <a:r>
                        <a:rPr sz="2000" b="0" i="0">
                          <a:solidFill>
                            <a:srgbClr val="2B2B2B"/>
                          </a:solidFill>
                          <a:latin typeface="Calibri"/>
                        </a:rPr>
                        <a:t>TRAIN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2000" rIns="72000" tIns="28800" bIns="28800"/>
                    <a:lstStyle/>
                    <a:p>
                      <a:pPr algn="ctr"/>
                      <a:r>
                        <a:rPr sz="2000" b="0" i="0">
                          <a:solidFill>
                            <a:srgbClr val="2B2B2B"/>
                          </a:solidFill>
                          <a:latin typeface="Calibri"/>
                        </a:rPr>
                        <a:t>t = 13 – 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2000" rIns="72000" tIns="28800" bIns="28800"/>
                    <a:lstStyle/>
                    <a:p>
                      <a:pPr algn="ctr"/>
                      <a:r>
                        <a:rPr sz="2000" b="0" i="0">
                          <a:solidFill>
                            <a:srgbClr val="2B2B2B"/>
                          </a:solidFill>
                          <a:latin typeface="Calibri"/>
                        </a:rPr>
                        <a:t>5.0 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2000" rIns="72000" tIns="28800" bIns="28800"/>
                    <a:lstStyle/>
                    <a:p>
                      <a:pPr algn="ctr"/>
                      <a:r>
                        <a:rPr sz="2000" b="0" i="0">
                          <a:solidFill>
                            <a:srgbClr val="2B2B2B"/>
                          </a:solidFill>
                          <a:latin typeface="Calibri"/>
                        </a:rPr>
                        <a:t>545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000">
                <a:tc>
                  <a:txBody>
                    <a:bodyPr lIns="72000" rIns="72000" tIns="28800" bIns="28800"/>
                    <a:lstStyle/>
                    <a:p>
                      <a:pPr algn="l"/>
                      <a:r>
                        <a:rPr sz="2000" b="0" i="0">
                          <a:solidFill>
                            <a:srgbClr val="2B2B2B"/>
                          </a:solidFill>
                          <a:latin typeface="Calibri"/>
                        </a:rPr>
                        <a:t>VAL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2000" rIns="72000" tIns="28800" bIns="28800"/>
                    <a:lstStyle/>
                    <a:p>
                      <a:pPr algn="ctr"/>
                      <a:r>
                        <a:rPr sz="2000" b="0" i="0">
                          <a:solidFill>
                            <a:srgbClr val="2B2B2B"/>
                          </a:solidFill>
                          <a:latin typeface="Calibri"/>
                        </a:rPr>
                        <a:t>t = 46, 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2000" rIns="72000" tIns="28800" bIns="28800"/>
                    <a:lstStyle/>
                    <a:p>
                      <a:pPr algn="ctr"/>
                      <a:r>
                        <a:rPr sz="2000" b="0" i="0">
                          <a:solidFill>
                            <a:srgbClr val="2B2B2B"/>
                          </a:solidFill>
                          <a:latin typeface="Calibri"/>
                        </a:rPr>
                        <a:t>184 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2000" rIns="72000" tIns="28800" bIns="28800"/>
                    <a:lstStyle/>
                    <a:p>
                      <a:pPr algn="ctr"/>
                      <a:r>
                        <a:rPr sz="2000" b="0" i="0">
                          <a:solidFill>
                            <a:srgbClr val="2B2B2B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000">
                <a:tc>
                  <a:txBody>
                    <a:bodyPr lIns="72000" rIns="72000" tIns="28800" bIns="28800"/>
                    <a:lstStyle/>
                    <a:p>
                      <a:pPr algn="l"/>
                      <a:r>
                        <a:rPr sz="2000" b="0" i="0">
                          <a:solidFill>
                            <a:srgbClr val="2B2B2B"/>
                          </a:solidFill>
                          <a:latin typeface="Calibri"/>
                        </a:rPr>
                        <a:t>TEST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2000" rIns="72000" tIns="28800" bIns="28800"/>
                    <a:lstStyle/>
                    <a:p>
                      <a:pPr algn="ctr"/>
                      <a:r>
                        <a:rPr sz="2000" b="0" i="0">
                          <a:solidFill>
                            <a:srgbClr val="2B2B2B"/>
                          </a:solidFill>
                          <a:latin typeface="Calibri"/>
                        </a:rPr>
                        <a:t>t = 48, 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2000" rIns="72000" tIns="28800" bIns="28800"/>
                    <a:lstStyle/>
                    <a:p>
                      <a:pPr algn="ctr"/>
                      <a:r>
                        <a:rPr sz="2000" b="0" i="0">
                          <a:solidFill>
                            <a:srgbClr val="2B2B2B"/>
                          </a:solidFill>
                          <a:latin typeface="Calibri"/>
                        </a:rPr>
                        <a:t>149 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72000" rIns="72000" tIns="28800" bIns="28800"/>
                    <a:lstStyle/>
                    <a:p>
                      <a:pPr algn="ctr"/>
                      <a:r>
                        <a:rPr sz="2000" b="0" i="0">
                          <a:solidFill>
                            <a:srgbClr val="2B2B2B"/>
                          </a:solidFill>
                          <a:latin typeface="Calibri"/>
                        </a:rPr>
                        <a:t>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" name="Rectangle 33"/>
          <p:cNvSpPr/>
          <p:nvPr/>
        </p:nvSpPr>
        <p:spPr>
          <a:xfrm>
            <a:off x="20015999" y="8820000"/>
            <a:ext cx="9720000" cy="22644000"/>
          </a:xfrm>
          <a:prstGeom prst="rect">
            <a:avLst/>
          </a:prstGeom>
          <a:solidFill>
            <a:srgbClr val="FD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0195999" y="8820000"/>
            <a:ext cx="9360000" cy="61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02A55"/>
                </a:solidFill>
                <a:latin typeface="Calibri"/>
              </a:rPr>
              <a:t>Results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0195999" y="9378000"/>
            <a:ext cx="3931200" cy="36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0195999" y="9648000"/>
            <a:ext cx="9360000" cy="64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02A55"/>
                </a:solidFill>
                <a:latin typeface="Calibri"/>
              </a:rPr>
              <a:t>Headline finding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195999" y="10368000"/>
            <a:ext cx="9360000" cy="23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0" i="1">
                <a:solidFill>
                  <a:srgbClr val="6E6E6E"/>
                </a:solidFill>
                <a:latin typeface="Calibri"/>
              </a:rPr>
              <a:t>ROC-AUC</a:t>
            </a:r>
          </a:p>
          <a:p>
            <a:pPr algn="ctr">
              <a:spcBef>
                <a:spcPts val="400"/>
              </a:spcBef>
            </a:pPr>
            <a:r>
              <a:rPr sz="9200" b="1" i="0">
                <a:solidFill>
                  <a:srgbClr val="102A55"/>
                </a:solidFill>
                <a:latin typeface="Calibri"/>
              </a:rPr>
              <a:t>0.88 </a:t>
            </a:r>
            <a:r>
              <a:rPr sz="8000" b="0" i="0">
                <a:solidFill>
                  <a:srgbClr val="6E6E6E"/>
                </a:solidFill>
                <a:latin typeface="Calibri"/>
              </a:rPr>
              <a:t>→ </a:t>
            </a:r>
            <a:r>
              <a:rPr sz="9200" b="1" i="0">
                <a:solidFill>
                  <a:srgbClr val="C0392B"/>
                </a:solidFill>
                <a:latin typeface="Calibri"/>
              </a:rPr>
              <a:t>0.95</a:t>
            </a:r>
          </a:p>
          <a:p>
            <a:pPr algn="ctr">
              <a:spcBef>
                <a:spcPts val="600"/>
              </a:spcBef>
            </a:pPr>
            <a:r>
              <a:rPr sz="2000" b="0" i="1">
                <a:solidFill>
                  <a:srgbClr val="6E6E6E"/>
                </a:solidFill>
                <a:latin typeface="Calibri"/>
              </a:rPr>
              <a:t>structural    →    structural + temporal</a:t>
            </a:r>
          </a:p>
          <a:p>
            <a:pPr algn="ctr">
              <a:spcBef>
                <a:spcPts val="600"/>
              </a:spcBef>
            </a:pPr>
            <a:r>
              <a:rPr sz="2000" b="0" i="1">
                <a:solidFill>
                  <a:srgbClr val="354C76"/>
                </a:solidFill>
                <a:latin typeface="Calibri"/>
              </a:rPr>
              <a:t>the largest single jump in our ablation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195999" y="13607999"/>
            <a:ext cx="9360000" cy="21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400"/>
              </a:spcAft>
            </a:pPr>
            <a:r>
              <a:rPr sz="2200" b="1" i="0">
                <a:solidFill>
                  <a:srgbClr val="102A55"/>
                </a:solidFill>
                <a:latin typeface="Calibri"/>
              </a:rPr>
              <a:t>Random Forest, </a:t>
            </a:r>
            <a:r>
              <a:rPr sz="2000" b="0" i="1">
                <a:solidFill>
                  <a:srgbClr val="6E6E6E"/>
                </a:solidFill>
                <a:latin typeface="Calibri"/>
              </a:rPr>
              <a:t>held-out test fold</a:t>
            </a:r>
          </a:p>
        </p:txBody>
      </p:sp>
      <p:graphicFrame>
        <p:nvGraphicFramePr>
          <p:cNvPr id="40" name="Table 39"/>
          <p:cNvGraphicFramePr>
            <a:graphicFrameLocks noGrp="1"/>
          </p:cNvGraphicFramePr>
          <p:nvPr/>
        </p:nvGraphicFramePr>
        <p:xfrm>
          <a:off x="20195999" y="14327999"/>
          <a:ext cx="9359998" cy="23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200"/>
                <a:gridCol w="2714399"/>
                <a:gridCol w="2714399"/>
              </a:tblGrid>
              <a:tr h="585000">
                <a:tc>
                  <a:txBody>
                    <a:bodyPr lIns="90000" rIns="90000" tIns="36000" bIns="36000"/>
                    <a:lstStyle/>
                    <a:p>
                      <a:pPr algn="l"/>
                      <a:r>
                        <a:rPr sz="2400" b="1" i="0">
                          <a:solidFill>
                            <a:srgbClr val="102A55"/>
                          </a:solidFill>
                          <a:latin typeface="Calibri"/>
                        </a:rPr>
                        <a:t>Feature set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90000" rIns="90000" tIns="36000" bIns="36000"/>
                    <a:lstStyle/>
                    <a:p>
                      <a:pPr algn="ctr"/>
                      <a:r>
                        <a:rPr sz="2400" b="1" i="0">
                          <a:solidFill>
                            <a:srgbClr val="102A55"/>
                          </a:solidFill>
                          <a:latin typeface="Calibri"/>
                        </a:rPr>
                        <a:t>ROC-AUC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  <a:tc>
                  <a:txBody>
                    <a:bodyPr lIns="90000" rIns="90000" tIns="36000" bIns="36000"/>
                    <a:lstStyle/>
                    <a:p>
                      <a:pPr algn="ctr"/>
                      <a:r>
                        <a:rPr sz="2400" b="1" i="0">
                          <a:solidFill>
                            <a:srgbClr val="102A55"/>
                          </a:solidFill>
                          <a:latin typeface="Calibri"/>
                        </a:rPr>
                        <a:t>PR-AUC</a:t>
                      </a:r>
                    </a:p>
                  </a:txBody>
                  <a:tcPr>
                    <a:solidFill>
                      <a:srgbClr val="F6F8FB"/>
                    </a:solidFill>
                  </a:tcPr>
                </a:tc>
              </a:tr>
              <a:tr h="585000">
                <a:tc>
                  <a:txBody>
                    <a:bodyPr lIns="90000" rIns="90000" tIns="36000" bIns="36000"/>
                    <a:lstStyle/>
                    <a:p>
                      <a:pPr algn="l"/>
                      <a:r>
                        <a:rPr sz="2400" b="0" i="0">
                          <a:solidFill>
                            <a:srgbClr val="2B2B2B"/>
                          </a:solidFill>
                          <a:latin typeface="Calibri"/>
                        </a:rPr>
                        <a:t>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90000" rIns="90000" tIns="36000" bIns="36000"/>
                    <a:lstStyle/>
                    <a:p>
                      <a:pPr algn="ctr"/>
                      <a:r>
                        <a:rPr sz="2400" b="0" i="0">
                          <a:solidFill>
                            <a:srgbClr val="2B2B2B"/>
                          </a:solidFill>
                          <a:latin typeface="Calibri"/>
                        </a:rPr>
                        <a:t>0.88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90000" rIns="90000" tIns="36000" bIns="36000"/>
                    <a:lstStyle/>
                    <a:p>
                      <a:pPr algn="ctr"/>
                      <a:r>
                        <a:rPr sz="2400" b="0" i="0">
                          <a:solidFill>
                            <a:srgbClr val="2B2B2B"/>
                          </a:solidFill>
                          <a:latin typeface="Calibri"/>
                        </a:rPr>
                        <a:t>0.02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5000">
                <a:tc>
                  <a:txBody>
                    <a:bodyPr lIns="90000" rIns="90000" tIns="36000" bIns="36000"/>
                    <a:lstStyle/>
                    <a:p>
                      <a:pPr algn="l"/>
                      <a:r>
                        <a:rPr sz="2400" b="1" i="0">
                          <a:solidFill>
                            <a:srgbClr val="C0392B"/>
                          </a:solidFill>
                          <a:latin typeface="Calibri"/>
                        </a:rPr>
                        <a:t>S + T</a:t>
                      </a:r>
                    </a:p>
                  </a:txBody>
                  <a:tcPr>
                    <a:solidFill>
                      <a:srgbClr val="FDE7E3"/>
                    </a:solidFill>
                  </a:tcPr>
                </a:tc>
                <a:tc>
                  <a:txBody>
                    <a:bodyPr lIns="90000" rIns="90000" tIns="36000" bIns="36000"/>
                    <a:lstStyle/>
                    <a:p>
                      <a:pPr algn="ctr"/>
                      <a:r>
                        <a:rPr sz="2400" b="1" i="0">
                          <a:solidFill>
                            <a:srgbClr val="C0392B"/>
                          </a:solidFill>
                          <a:latin typeface="Calibri"/>
                        </a:rPr>
                        <a:t>0.95</a:t>
                      </a:r>
                    </a:p>
                  </a:txBody>
                  <a:tcPr>
                    <a:solidFill>
                      <a:srgbClr val="FDE7E3"/>
                    </a:solidFill>
                  </a:tcPr>
                </a:tc>
                <a:tc>
                  <a:txBody>
                    <a:bodyPr lIns="90000" rIns="90000" tIns="36000" bIns="36000"/>
                    <a:lstStyle/>
                    <a:p>
                      <a:pPr algn="ctr"/>
                      <a:r>
                        <a:rPr sz="2400" b="1" i="0">
                          <a:solidFill>
                            <a:srgbClr val="C0392B"/>
                          </a:solidFill>
                          <a:latin typeface="Calibri"/>
                        </a:rPr>
                        <a:t>0.04</a:t>
                      </a:r>
                    </a:p>
                  </a:txBody>
                  <a:tcPr>
                    <a:solidFill>
                      <a:srgbClr val="FDE7E3"/>
                    </a:solidFill>
                  </a:tcPr>
                </a:tc>
              </a:tr>
              <a:tr h="585000">
                <a:tc>
                  <a:txBody>
                    <a:bodyPr lIns="90000" rIns="90000" tIns="36000" bIns="36000"/>
                    <a:lstStyle/>
                    <a:p>
                      <a:pPr algn="l"/>
                      <a:r>
                        <a:rPr sz="2400" b="0" i="0">
                          <a:solidFill>
                            <a:srgbClr val="2B2B2B"/>
                          </a:solidFill>
                          <a:latin typeface="Calibri"/>
                        </a:rPr>
                        <a:t>S + T + 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90000" rIns="90000" tIns="36000" bIns="36000"/>
                    <a:lstStyle/>
                    <a:p>
                      <a:pPr algn="ctr"/>
                      <a:r>
                        <a:rPr sz="2400" b="0" i="0">
                          <a:solidFill>
                            <a:srgbClr val="2B2B2B"/>
                          </a:solidFill>
                          <a:latin typeface="Calibri"/>
                        </a:rPr>
                        <a:t>0.94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90000" rIns="90000" tIns="36000" bIns="36000"/>
                    <a:lstStyle/>
                    <a:p>
                      <a:pPr algn="ctr"/>
                      <a:r>
                        <a:rPr sz="2400" b="0" i="0">
                          <a:solidFill>
                            <a:srgbClr val="2B2B2B"/>
                          </a:solidFill>
                          <a:latin typeface="Calibri"/>
                        </a:rPr>
                        <a:t>0.07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1" name="TextBox 40"/>
          <p:cNvSpPr txBox="1"/>
          <p:nvPr/>
        </p:nvSpPr>
        <p:spPr>
          <a:xfrm>
            <a:off x="20195999" y="16848000"/>
            <a:ext cx="9360000" cy="21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200" b="1" i="0">
                <a:solidFill>
                  <a:srgbClr val="C0392B"/>
                </a:solidFill>
                <a:latin typeface="Calibri"/>
              </a:rPr>
              <a:t>+ T</a:t>
            </a:r>
            <a:r>
              <a:rPr sz="2000" b="0" i="0">
                <a:solidFill>
                  <a:srgbClr val="2B2B2B"/>
                </a:solidFill>
                <a:latin typeface="Calibri"/>
              </a:rPr>
              <a:t>    largest, most consistent improvement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2200" b="1" i="0">
                <a:solidFill>
                  <a:srgbClr val="C0392B"/>
                </a:solidFill>
                <a:latin typeface="Calibri"/>
              </a:rPr>
              <a:t>+ C</a:t>
            </a:r>
            <a:r>
              <a:rPr sz="2000" b="0" i="0">
                <a:solidFill>
                  <a:srgbClr val="2B2B2B"/>
                </a:solidFill>
                <a:latin typeface="Calibri"/>
              </a:rPr>
              <a:t>    further PR-AUC gain; ROC near saturation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700" b="0" i="1">
                <a:solidFill>
                  <a:srgbClr val="6E6E6E"/>
                </a:solidFill>
                <a:latin typeface="Calibri"/>
              </a:rPr>
              <a:t>LR shows the same ordering at lower absolute PR-AUC.</a:t>
            </a:r>
          </a:p>
        </p:txBody>
      </p:sp>
      <p:pic>
        <p:nvPicPr>
          <p:cNvPr id="42" name="Picture 41" descr="test_rf_p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95999" y="19188000"/>
            <a:ext cx="9360000" cy="7354286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20195999" y="23493599"/>
            <a:ext cx="9360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 i="1">
                <a:solidFill>
                  <a:srgbClr val="6E6E6E"/>
                </a:solidFill>
                <a:latin typeface="Calibri"/>
              </a:rPr>
              <a:t>Random Forest precision-recall curves on the test fold.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0000" y="32184000"/>
            <a:ext cx="28835999" cy="61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02A55"/>
                </a:solidFill>
                <a:latin typeface="Calibri"/>
              </a:rPr>
              <a:t>Findings &amp; Conclusion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20000" y="32742000"/>
            <a:ext cx="12111119" cy="36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20000" y="33048000"/>
            <a:ext cx="9180000" cy="21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200" b="1" i="0">
                <a:solidFill>
                  <a:srgbClr val="102A55"/>
                </a:solidFill>
                <a:latin typeface="Calibri"/>
              </a:rPr>
              <a:t>Temporal information is the dominant signal.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900" b="0" i="0">
                <a:solidFill>
                  <a:srgbClr val="2B2B2B"/>
                </a:solidFill>
                <a:latin typeface="Calibri"/>
              </a:rPr>
              <a:t>Recency and decayed activity drive feature importance in both models.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900" b="0" i="0">
                <a:solidFill>
                  <a:srgbClr val="2B2B2B"/>
                </a:solidFill>
                <a:latin typeface="Calibri"/>
              </a:rPr>
              <a:t>A simple recency-only ranker reaches  </a:t>
            </a:r>
            <a:r>
              <a:rPr sz="1900" b="1" i="0">
                <a:solidFill>
                  <a:srgbClr val="C0392B"/>
                </a:solidFill>
                <a:latin typeface="Calibri"/>
              </a:rPr>
              <a:t>ROC-AUC ≈ 0.89</a:t>
            </a:r>
            <a:r>
              <a:rPr sz="1900" b="0" i="0">
                <a:solidFill>
                  <a:srgbClr val="2B2B2B"/>
                </a:solidFill>
                <a:latin typeface="Calibri"/>
              </a:rPr>
              <a:t>, confirming that the temporal signal is robust and supported by simple recency information.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48000" y="33048000"/>
            <a:ext cx="9180000" cy="21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2200" b="1" i="0">
                <a:solidFill>
                  <a:srgbClr val="102A55"/>
                </a:solidFill>
                <a:latin typeface="Calibri"/>
              </a:rPr>
              <a:t>Community-aware features add a nuanced refinement.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900" b="0" i="0">
                <a:solidFill>
                  <a:srgbClr val="2B2B2B"/>
                </a:solidFill>
                <a:latin typeface="Calibri"/>
              </a:rPr>
              <a:t>Community features mostly improve PR-AUC under Random Forest; ROC-AUC is already saturated.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900" b="0" i="0">
                <a:solidFill>
                  <a:srgbClr val="2B2B2B"/>
                </a:solidFill>
                <a:latin typeface="Calibri"/>
              </a:rPr>
              <a:t>The naive cross-community-distrust intuition is not supported by the data.  At the pair level, </a:t>
            </a:r>
            <a:r>
              <a:rPr sz="1900" b="1" i="0">
                <a:solidFill>
                  <a:srgbClr val="C0392B"/>
                </a:solidFill>
                <a:latin typeface="Calibri"/>
              </a:rPr>
              <a:t>neighborhood overlap</a:t>
            </a:r>
            <a:r>
              <a:rPr sz="1900" b="0" i="0">
                <a:solidFill>
                  <a:srgbClr val="2B2B2B"/>
                </a:solidFill>
                <a:latin typeface="Calibri"/>
              </a:rPr>
              <a:t> is the strongest community signal.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0376000" y="33048000"/>
            <a:ext cx="9180000" cy="21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2200" b="1" i="0">
                <a:solidFill>
                  <a:srgbClr val="102A55"/>
                </a:solidFill>
                <a:latin typeface="Calibri"/>
              </a:rPr>
              <a:t>Conclusion · Future work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900" b="1" i="0">
                <a:solidFill>
                  <a:srgbClr val="2B2B2B"/>
                </a:solidFill>
                <a:latin typeface="Calibri"/>
              </a:rPr>
              <a:t>We developed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800" b="0" i="0">
                <a:solidFill>
                  <a:srgbClr val="2B2B2B"/>
                </a:solidFill>
                <a:latin typeface="Calibri"/>
              </a:rPr>
              <a:t>•  a precise temporal signed-network task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800" b="0" i="0">
                <a:solidFill>
                  <a:srgbClr val="2B2B2B"/>
                </a:solidFill>
                <a:latin typeface="Calibri"/>
              </a:rPr>
              <a:t>•  an interpretable, leakage-controlled pipeline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800" b="0" i="0">
                <a:solidFill>
                  <a:srgbClr val="2B2B2B"/>
                </a:solidFill>
                <a:latin typeface="Calibri"/>
              </a:rPr>
              <a:t>•  a reproducible feature-ablation evaluation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900" b="1" i="0">
                <a:solidFill>
                  <a:srgbClr val="2B2B2B"/>
                </a:solidFill>
                <a:latin typeface="Calibri"/>
              </a:rPr>
              <a:t>Future work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800" b="0" i="0">
                <a:solidFill>
                  <a:srgbClr val="2B2B2B"/>
                </a:solidFill>
                <a:latin typeface="Calibri"/>
              </a:rPr>
              <a:t>•  external replication on Bitcoin-Alpha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800" b="0" i="0">
                <a:solidFill>
                  <a:srgbClr val="2B2B2B"/>
                </a:solidFill>
                <a:latin typeface="Calibri"/>
              </a:rPr>
              <a:t>•  stronger learning baselines</a:t>
            </a:r>
          </a:p>
          <a:p>
            <a:pPr algn="l">
              <a:lnSpc>
                <a:spcPct val="122000"/>
              </a:lnSpc>
              <a:spcAft>
                <a:spcPts val="200"/>
              </a:spcAft>
            </a:pPr>
            <a:r>
              <a:rPr sz="1800" b="0" i="0">
                <a:solidFill>
                  <a:srgbClr val="2B2B2B"/>
                </a:solidFill>
                <a:latin typeface="Calibri"/>
              </a:rPr>
              <a:t>•  conditional community-signal analyses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39384000"/>
            <a:ext cx="30275999" cy="2880000"/>
          </a:xfrm>
          <a:prstGeom prst="rect">
            <a:avLst/>
          </a:prstGeom>
          <a:solidFill>
            <a:srgbClr val="F6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0" y="39384000"/>
            <a:ext cx="30275999" cy="28800"/>
          </a:xfrm>
          <a:prstGeom prst="rect">
            <a:avLst/>
          </a:prstGeom>
          <a:solidFill>
            <a:srgbClr val="10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20000" y="39600000"/>
            <a:ext cx="28835999" cy="216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800" b="1" i="0">
                <a:solidFill>
                  <a:srgbClr val="102A55"/>
                </a:solidFill>
                <a:latin typeface="Calibri"/>
              </a:rPr>
              <a:t>ADDITIONAL VALIDATION    </a:t>
            </a:r>
            <a:r>
              <a:rPr sz="1700" b="0" i="0">
                <a:solidFill>
                  <a:srgbClr val="2B2B2B"/>
                </a:solidFill>
                <a:latin typeface="Calibri"/>
              </a:rPr>
              <a:t>Rolling-origin over 25 monthly test folds (425 positives) confirms the temporal lift  </a:t>
            </a:r>
            <a:r>
              <a:rPr sz="1700" b="1" i="0">
                <a:solidFill>
                  <a:srgbClr val="C0392B"/>
                </a:solidFill>
                <a:latin typeface="Calibri"/>
              </a:rPr>
              <a:t>(Wilcoxon p ≤ 1.4 × 10⁻⁴, Holm-corrected)</a:t>
            </a:r>
            <a:r>
              <a:rPr sz="1700" b="0" i="0">
                <a:solidFill>
                  <a:srgbClr val="2B2B2B"/>
                </a:solidFill>
                <a:latin typeface="Calibri"/>
              </a:rPr>
              <a:t>.  Bootstrap CIs on the locked fold agree with the across-fold results.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800" b="1" i="0">
                <a:solidFill>
                  <a:srgbClr val="102A55"/>
                </a:solidFill>
                <a:latin typeface="Calibri"/>
              </a:rPr>
              <a:t>REFERENCES    </a:t>
            </a:r>
            <a:r>
              <a:rPr sz="1700" b="0" i="0">
                <a:solidFill>
                  <a:srgbClr val="2B2B2B"/>
                </a:solidFill>
                <a:latin typeface="Calibri"/>
              </a:rPr>
              <a:t>Kumar et al. (ICDM 2016)   ·   Blondel et al. (J Stat Mech 2008)   ·   Bertazzi et al. (SocInfo 2018)   ·   Leskovec &amp; Krevl, SNAP (2014).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800" b="1" i="0">
                <a:solidFill>
                  <a:srgbClr val="102A55"/>
                </a:solidFill>
                <a:latin typeface="Calibri"/>
              </a:rPr>
              <a:t>REPRODUCIBILITY    </a:t>
            </a:r>
            <a:r>
              <a:rPr sz="1700" b="0" i="0">
                <a:solidFill>
                  <a:srgbClr val="2B2B2B"/>
                </a:solidFill>
                <a:latin typeface="Calibri"/>
              </a:rPr>
              <a:t>Code organized in  src/  and  scripts/  ·  all seeds fixed at 42  ·  intermediate artifacts persisted under  data/  and  results/ 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