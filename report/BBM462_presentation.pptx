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0"/>
            <a:ext cx="11112119" cy="1620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5400" b="1" i="0">
                <a:solidFill>
                  <a:srgbClr val="102A55"/>
                </a:solidFill>
                <a:latin typeface="Calibri"/>
              </a:rPr>
              <a:t>Early Warning of Distrust</a:t>
            </a:r>
          </a:p>
          <a:p>
            <a:pPr algn="l"/>
            <a:r>
              <a:rPr sz="5400" b="1" i="0">
                <a:solidFill>
                  <a:srgbClr val="102A55"/>
                </a:solidFill>
                <a:latin typeface="Calibri"/>
              </a:rPr>
              <a:t>in Bitcoin-OTC</a:t>
            </a:r>
          </a:p>
          <a:p>
            <a:pPr algn="l">
              <a:spcBef>
                <a:spcPts val="2000"/>
              </a:spcBef>
            </a:pPr>
            <a:r>
              <a:rPr sz="2400" b="0" i="1">
                <a:solidFill>
                  <a:srgbClr val="6E6E6E"/>
                </a:solidFill>
                <a:latin typeface="Calibri"/>
              </a:rPr>
              <a:t>Community-Aware Prediction of New Negative Trust Edges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5400000"/>
            <a:ext cx="11112119" cy="900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Calibri"/>
              </a:rPr>
              <a:t>Ömer Faruk Güler</a:t>
            </a:r>
          </a:p>
          <a:p>
            <a:pPr algn="l"/>
            <a:r>
              <a:rPr sz="1800" b="0" i="0">
                <a:solidFill>
                  <a:srgbClr val="6E6E6E"/>
                </a:solidFill>
                <a:latin typeface="Calibri"/>
              </a:rPr>
              <a:t>Hacettepe University · BBM462 Final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32119" y="6498000"/>
            <a:ext cx="900000" cy="251999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r"/>
            <a:r>
              <a:rPr sz="1100" b="0" i="0">
                <a:solidFill>
                  <a:srgbClr val="6E6E6E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24000"/>
            <a:ext cx="11112119" cy="648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3600" b="1" i="0">
                <a:solidFill>
                  <a:srgbClr val="102A55"/>
                </a:solidFill>
                <a:latin typeface="Calibri"/>
              </a:rPr>
              <a:t>Why This Is Not Generic Link Prediction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1026000"/>
            <a:ext cx="11112119" cy="144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1620000"/>
            <a:ext cx="10896119" cy="4320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600" b="1" i="0">
                <a:solidFill>
                  <a:srgbClr val="C0392B"/>
                </a:solidFill>
                <a:latin typeface="Calibri"/>
              </a:rPr>
              <a:t>Sign-dependent — </a:t>
            </a:r>
            <a:r>
              <a:rPr sz="2600" b="0" i="0">
                <a:solidFill>
                  <a:srgbClr val="2B2B2B"/>
                </a:solidFill>
                <a:latin typeface="Calibri"/>
              </a:rPr>
              <a:t>predicting any edge ≠ predicting a negative edge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600" b="1" i="0">
                <a:solidFill>
                  <a:srgbClr val="C0392B"/>
                </a:solidFill>
                <a:latin typeface="Calibri"/>
              </a:rPr>
              <a:t>Heavily imbalanced — </a:t>
            </a:r>
            <a:r>
              <a:rPr sz="2600" b="0" i="0">
                <a:solidFill>
                  <a:srgbClr val="2B2B2B"/>
                </a:solidFill>
                <a:latin typeface="Calibri"/>
              </a:rPr>
              <a:t>≈ 10 % of edges negative; new monthly negatives much rarer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600" b="1" i="0">
                <a:solidFill>
                  <a:srgbClr val="C0392B"/>
                </a:solidFill>
                <a:latin typeface="Calibri"/>
              </a:rPr>
              <a:t>Time-causal — </a:t>
            </a:r>
            <a:r>
              <a:rPr sz="2600" b="0" i="0">
                <a:solidFill>
                  <a:srgbClr val="2B2B2B"/>
                </a:solidFill>
                <a:latin typeface="Calibri"/>
              </a:rPr>
              <a:t>only pre-snapshot information can enter the model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600" b="0" i="0">
                <a:solidFill>
                  <a:srgbClr val="2B2B2B"/>
                </a:solidFill>
                <a:latin typeface="Calibri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400" b="0" i="1">
                <a:solidFill>
                  <a:srgbClr val="6E6E6E"/>
                </a:solidFill>
                <a:latin typeface="Calibri"/>
              </a:rPr>
              <a:t>→ ranking metrics (ROC-AUC, PR-AUC), not threshold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32119" y="6498000"/>
            <a:ext cx="900000" cy="251999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r"/>
            <a:r>
              <a:rPr sz="1100" b="0" i="0">
                <a:solidFill>
                  <a:srgbClr val="6E6E6E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24000"/>
            <a:ext cx="11112119" cy="648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3600" b="1" i="0">
                <a:solidFill>
                  <a:srgbClr val="102A55"/>
                </a:solidFill>
                <a:latin typeface="Calibri"/>
              </a:rPr>
              <a:t>Dataset and Task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1026000"/>
            <a:ext cx="11112119" cy="144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1440000"/>
            <a:ext cx="5400000" cy="4680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400" b="1" i="0">
                <a:solidFill>
                  <a:srgbClr val="2B2B2B"/>
                </a:solidFill>
                <a:latin typeface="Calibri"/>
              </a:rPr>
              <a:t>35,592 ratings · 5,881 users · 63 months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200" b="0" i="0">
                <a:solidFill>
                  <a:srgbClr val="2B2B2B"/>
                </a:solidFill>
                <a:latin typeface="Calibri"/>
              </a:rPr>
              <a:t>Edge: </a:t>
            </a:r>
            <a:r>
              <a:rPr sz="2200" b="0" i="1">
                <a:solidFill>
                  <a:srgbClr val="2B2B2B"/>
                </a:solidFill>
                <a:latin typeface="Calibri"/>
              </a:rPr>
              <a:t>(u → v, rating ∈ [-10, +10], timestamp)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200" b="0" i="0">
                <a:solidFill>
                  <a:srgbClr val="2B2B2B"/>
                </a:solidFill>
                <a:latin typeface="Calibri"/>
              </a:rPr>
              <a:t>≈ 90 % positive · 10 % negative · reciprocity 0.79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200" b="0" i="0">
                <a:solidFill>
                  <a:srgbClr val="2B2B2B"/>
                </a:solidFill>
                <a:latin typeface="Calibri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200" b="1" i="0">
                <a:solidFill>
                  <a:srgbClr val="C0392B"/>
                </a:solidFill>
                <a:latin typeface="Calibri"/>
              </a:rPr>
              <a:t>Task — </a:t>
            </a:r>
            <a:r>
              <a:rPr sz="2200" b="0" i="0">
                <a:solidFill>
                  <a:srgbClr val="2B2B2B"/>
                </a:solidFill>
                <a:latin typeface="Calibri"/>
              </a:rPr>
              <a:t>at end of month t, rank pairs (u, v) by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200" b="1" i="1">
                <a:solidFill>
                  <a:srgbClr val="2B2B2B"/>
                </a:solidFill>
                <a:latin typeface="Calibri"/>
              </a:rPr>
              <a:t>P(new negative directed edge u → v in t + 1)</a:t>
            </a:r>
          </a:p>
        </p:txBody>
      </p:sp>
      <p:pic>
        <p:nvPicPr>
          <p:cNvPr id="5" name="Picture 4" descr="edges_per_mon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000" y="1620000"/>
            <a:ext cx="5220000" cy="2283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0000" y="6498000"/>
            <a:ext cx="11112119" cy="251999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100" b="0" i="1">
                <a:solidFill>
                  <a:srgbClr val="6E6E6E"/>
                </a:solidFill>
                <a:latin typeface="Calibri"/>
              </a:rPr>
              <a:t>Bitcoin-OTC monthly interaction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32119" y="6498000"/>
            <a:ext cx="900000" cy="251999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r"/>
            <a:r>
              <a:rPr sz="1100" b="0" i="0">
                <a:solidFill>
                  <a:srgbClr val="6E6E6E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24000"/>
            <a:ext cx="11112119" cy="648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3600" b="1" i="0">
                <a:solidFill>
                  <a:srgbClr val="102A55"/>
                </a:solidFill>
                <a:latin typeface="Calibri"/>
              </a:rPr>
              <a:t>Interpretable Feature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1026000"/>
            <a:ext cx="11112119" cy="144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8000" y="1440000"/>
            <a:ext cx="2088000" cy="576000"/>
          </a:xfrm>
          <a:prstGeom prst="roundRect">
            <a:avLst/>
          </a:prstGeom>
          <a:solidFill>
            <a:srgbClr val="E8EEF6"/>
          </a:solidFill>
          <a:ln w="9525">
            <a:solidFill>
              <a:srgbClr val="10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  <a:r>
              <a:rPr sz="1600" b="1" i="0">
                <a:solidFill>
                  <a:srgbClr val="102A55"/>
                </a:solidFill>
                <a:latin typeface="Calibri"/>
              </a:rPr>
              <a:t>Raw events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736000" y="1584000"/>
            <a:ext cx="144000" cy="288000"/>
          </a:xfrm>
          <a:prstGeom prst="rightArrow">
            <a:avLst/>
          </a:prstGeom>
          <a:solidFill>
            <a:srgbClr val="1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80000" y="1440000"/>
            <a:ext cx="2088000" cy="576000"/>
          </a:xfrm>
          <a:prstGeom prst="roundRect">
            <a:avLst/>
          </a:prstGeom>
          <a:solidFill>
            <a:srgbClr val="E8EEF6"/>
          </a:solidFill>
          <a:ln w="9525">
            <a:solidFill>
              <a:srgbClr val="10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  <a:r>
              <a:rPr sz="1600" b="1" i="0">
                <a:solidFill>
                  <a:srgbClr val="102A55"/>
                </a:solidFill>
                <a:latin typeface="Calibri"/>
              </a:rPr>
              <a:t>Monthly snapshots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968000" y="1584000"/>
            <a:ext cx="144000" cy="288000"/>
          </a:xfrm>
          <a:prstGeom prst="rightArrow">
            <a:avLst/>
          </a:prstGeom>
          <a:solidFill>
            <a:srgbClr val="1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12000" y="1440000"/>
            <a:ext cx="2088000" cy="576000"/>
          </a:xfrm>
          <a:prstGeom prst="roundRect">
            <a:avLst/>
          </a:prstGeom>
          <a:solidFill>
            <a:srgbClr val="E8EEF6"/>
          </a:solidFill>
          <a:ln w="9525">
            <a:solidFill>
              <a:srgbClr val="10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  <a:r>
              <a:rPr sz="1600" b="1" i="0">
                <a:solidFill>
                  <a:srgbClr val="102A55"/>
                </a:solidFill>
                <a:latin typeface="Calibri"/>
              </a:rPr>
              <a:t>Candidates + labels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200000" y="1584000"/>
            <a:ext cx="144000" cy="288000"/>
          </a:xfrm>
          <a:prstGeom prst="rightArrow">
            <a:avLst/>
          </a:prstGeom>
          <a:solidFill>
            <a:srgbClr val="1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44000" y="1440000"/>
            <a:ext cx="2088000" cy="576000"/>
          </a:xfrm>
          <a:prstGeom prst="roundRect">
            <a:avLst/>
          </a:prstGeom>
          <a:solidFill>
            <a:srgbClr val="E8EEF6"/>
          </a:solidFill>
          <a:ln w="9525">
            <a:solidFill>
              <a:srgbClr val="10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  <a:r>
              <a:rPr sz="1600" b="1" i="0">
                <a:solidFill>
                  <a:srgbClr val="102A55"/>
                </a:solidFill>
                <a:latin typeface="Calibri"/>
              </a:rPr>
              <a:t>36 features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432000" y="1584000"/>
            <a:ext cx="144000" cy="288000"/>
          </a:xfrm>
          <a:prstGeom prst="rightArrow">
            <a:avLst/>
          </a:prstGeom>
          <a:solidFill>
            <a:srgbClr val="1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576000" y="1440000"/>
            <a:ext cx="2088000" cy="576000"/>
          </a:xfrm>
          <a:prstGeom prst="roundRect">
            <a:avLst/>
          </a:prstGeom>
          <a:solidFill>
            <a:srgbClr val="E8EEF6"/>
          </a:solidFill>
          <a:ln w="9525">
            <a:solidFill>
              <a:srgbClr val="10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  <a:r>
              <a:rPr sz="1600" b="1" i="0">
                <a:solidFill>
                  <a:srgbClr val="102A55"/>
                </a:solidFill>
                <a:latin typeface="Calibri"/>
              </a:rPr>
              <a:t>LR / RF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8000" y="2700000"/>
            <a:ext cx="5220000" cy="1440000"/>
          </a:xfrm>
          <a:prstGeom prst="roundRect">
            <a:avLst/>
          </a:prstGeom>
          <a:solidFill>
            <a:srgbClr val="F3F6FB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4000" rIns="144000" tIns="90000" bIns="90000" wrap="square"/>
          <a:lstStyle/>
          <a:p>
            <a:pPr algn="l"/>
            <a:r>
              <a:rPr sz="2200" b="1" i="0">
                <a:solidFill>
                  <a:srgbClr val="102A55"/>
                </a:solidFill>
                <a:latin typeface="Calibri"/>
              </a:rPr>
              <a:t>(S) Structural</a:t>
            </a:r>
          </a:p>
          <a:p>
            <a:pPr algn="l">
              <a:spcBef>
                <a:spcPts val="600"/>
              </a:spcBef>
            </a:pPr>
            <a:r>
              <a:rPr sz="1600" b="0" i="0">
                <a:solidFill>
                  <a:srgbClr val="2B2B2B"/>
                </a:solidFill>
                <a:latin typeface="Calibri"/>
              </a:rPr>
              <a:t>CN, Jaccard, AA, PA · signed degrees · reciprocity · prior interaction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4000" y="2700000"/>
            <a:ext cx="5220000" cy="1440000"/>
          </a:xfrm>
          <a:prstGeom prst="roundRect">
            <a:avLst/>
          </a:prstGeom>
          <a:solidFill>
            <a:srgbClr val="F6F6F6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4000" rIns="144000" tIns="90000" bIns="90000" wrap="square"/>
          <a:lstStyle/>
          <a:p>
            <a:pPr algn="l"/>
            <a:r>
              <a:rPr sz="2200" b="1" i="0">
                <a:solidFill>
                  <a:srgbClr val="102A55"/>
                </a:solidFill>
                <a:latin typeface="Calibri"/>
              </a:rPr>
              <a:t>(+ Trust-summary)</a:t>
            </a:r>
          </a:p>
          <a:p>
            <a:pPr algn="l">
              <a:spcBef>
                <a:spcPts val="600"/>
              </a:spcBef>
            </a:pPr>
            <a:r>
              <a:rPr sz="1600" b="0" i="0">
                <a:solidFill>
                  <a:srgbClr val="2B2B2B"/>
                </a:solidFill>
                <a:latin typeface="Calibri"/>
              </a:rPr>
              <a:t>Mean rating given/received · negative ratios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8000" y="4356000"/>
            <a:ext cx="5220000" cy="1440000"/>
          </a:xfrm>
          <a:prstGeom prst="roundRect">
            <a:avLst/>
          </a:prstGeom>
          <a:solidFill>
            <a:srgbClr val="FDF1EE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4000" rIns="144000" tIns="90000" bIns="90000" wrap="square"/>
          <a:lstStyle/>
          <a:p>
            <a:pPr algn="l"/>
            <a:r>
              <a:rPr sz="2200" b="1" i="0">
                <a:solidFill>
                  <a:srgbClr val="102A55"/>
                </a:solidFill>
                <a:latin typeface="Calibri"/>
              </a:rPr>
              <a:t>(+ T) Temporal</a:t>
            </a:r>
          </a:p>
          <a:p>
            <a:pPr algn="l">
              <a:spcBef>
                <a:spcPts val="600"/>
              </a:spcBef>
            </a:pPr>
            <a:r>
              <a:rPr sz="1600" b="0" i="0">
                <a:solidFill>
                  <a:srgbClr val="2B2B2B"/>
                </a:solidFill>
                <a:latin typeface="Calibri"/>
              </a:rPr>
              <a:t>Days since last activity · recent counts · decayed aggregates (τ = 60 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4000" y="4356000"/>
            <a:ext cx="5220000" cy="1440000"/>
          </a:xfrm>
          <a:prstGeom prst="roundRect">
            <a:avLst/>
          </a:prstGeom>
          <a:solidFill>
            <a:srgbClr val="EFF6E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4000" rIns="144000" tIns="90000" bIns="90000" wrap="square"/>
          <a:lstStyle/>
          <a:p>
            <a:pPr algn="l"/>
            <a:r>
              <a:rPr sz="2200" b="1" i="0">
                <a:solidFill>
                  <a:srgbClr val="102A55"/>
                </a:solidFill>
                <a:latin typeface="Calibri"/>
              </a:rPr>
              <a:t>(+ C) Community-aware</a:t>
            </a:r>
          </a:p>
          <a:p>
            <a:pPr algn="l">
              <a:spcBef>
                <a:spcPts val="600"/>
              </a:spcBef>
            </a:pPr>
            <a:r>
              <a:rPr sz="1600" b="0" i="0">
                <a:solidFill>
                  <a:srgbClr val="2B2B2B"/>
                </a:solidFill>
                <a:latin typeface="Calibri"/>
              </a:rPr>
              <a:t>Louvain on G⁺ · same-community · neighborhood overlap · boundary fractions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000" y="6498000"/>
            <a:ext cx="11112119" cy="251999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100" b="0" i="1">
                <a:solidFill>
                  <a:srgbClr val="6E6E6E"/>
                </a:solidFill>
                <a:latin typeface="Calibri"/>
              </a:rPr>
              <a:t>Strict leakage boundary: only events with ts ≤ end_of_month(t).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32119" y="6498000"/>
            <a:ext cx="900000" cy="251999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r"/>
            <a:r>
              <a:rPr sz="1100" b="0" i="0">
                <a:solidFill>
                  <a:srgbClr val="6E6E6E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24000"/>
            <a:ext cx="11112119" cy="648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3600" b="1" i="0">
                <a:solidFill>
                  <a:srgbClr val="102A55"/>
                </a:solidFill>
                <a:latin typeface="Calibri"/>
              </a:rPr>
              <a:t>Models and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1026000"/>
            <a:ext cx="11112119" cy="144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1440000"/>
            <a:ext cx="7200000" cy="2520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200" b="1" i="0">
                <a:solidFill>
                  <a:srgbClr val="C0392B"/>
                </a:solidFill>
                <a:latin typeface="Calibri"/>
              </a:rPr>
              <a:t>Models — </a:t>
            </a:r>
            <a:r>
              <a:rPr sz="2200" b="0" i="0">
                <a:solidFill>
                  <a:srgbClr val="2B2B2B"/>
                </a:solidFill>
                <a:latin typeface="Calibri"/>
              </a:rPr>
              <a:t>Logistic Regression and Random Forest (no hyperparameter tuning)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200" b="1" i="0">
                <a:solidFill>
                  <a:srgbClr val="C0392B"/>
                </a:solidFill>
                <a:latin typeface="Calibri"/>
              </a:rPr>
              <a:t>Feature sets — </a:t>
            </a:r>
            <a:r>
              <a:rPr sz="2200" b="0" i="0">
                <a:solidFill>
                  <a:srgbClr val="2B2B2B"/>
                </a:solidFill>
                <a:latin typeface="Calibri"/>
              </a:rPr>
              <a:t>S → S + T → S + T + C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200" b="1" i="0">
                <a:solidFill>
                  <a:srgbClr val="C0392B"/>
                </a:solidFill>
                <a:latin typeface="Calibri"/>
              </a:rPr>
              <a:t>Metrics — </a:t>
            </a:r>
            <a:r>
              <a:rPr sz="2200" b="0" i="0">
                <a:solidFill>
                  <a:srgbClr val="2B2B2B"/>
                </a:solidFill>
                <a:latin typeface="Calibri"/>
              </a:rPr>
              <a:t>ROC-AUC, PR-AUC (heavy class imbalance)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200" b="1" i="0">
                <a:solidFill>
                  <a:srgbClr val="C0392B"/>
                </a:solidFill>
                <a:latin typeface="Calibri"/>
              </a:rPr>
              <a:t>Verification — </a:t>
            </a:r>
            <a:r>
              <a:rPr sz="2200" b="0" i="0">
                <a:solidFill>
                  <a:srgbClr val="2B2B2B"/>
                </a:solidFill>
                <a:latin typeface="Calibri"/>
              </a:rPr>
              <a:t>rolling-origin over 25 monthly folds (425 positives total)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8000" y="4320000"/>
          <a:ext cx="7920000" cy="19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2520000"/>
                <a:gridCol w="1800000"/>
                <a:gridCol w="1800000"/>
              </a:tblGrid>
              <a:tr h="495000">
                <a:tc>
                  <a:txBody>
                    <a:bodyPr lIns="54000" rIns="54000" tIns="18000" bIns="18000"/>
                    <a:lstStyle/>
                    <a:p>
                      <a:pPr algn="l"/>
                      <a:r>
                        <a:rPr sz="2000" b="1" i="0">
                          <a:solidFill>
                            <a:srgbClr val="102A55"/>
                          </a:solidFill>
                          <a:latin typeface="Calibri"/>
                        </a:rPr>
                        <a:t>Split</a:t>
                      </a:r>
                    </a:p>
                  </a:txBody>
                  <a:tcPr>
                    <a:solidFill>
                      <a:srgbClr val="F1F3F8"/>
                    </a:solidFill>
                  </a:tcPr>
                </a:tc>
                <a:tc>
                  <a:txBody>
                    <a:bodyPr lIns="54000" rIns="54000" tIns="18000" bIns="18000"/>
                    <a:lstStyle/>
                    <a:p>
                      <a:pPr algn="ctr"/>
                      <a:r>
                        <a:rPr sz="2000" b="1" i="0">
                          <a:solidFill>
                            <a:srgbClr val="102A55"/>
                          </a:solidFill>
                          <a:latin typeface="Calibri"/>
                        </a:rPr>
                        <a:t>Months</a:t>
                      </a:r>
                    </a:p>
                  </a:txBody>
                  <a:tcPr>
                    <a:solidFill>
                      <a:srgbClr val="F1F3F8"/>
                    </a:solidFill>
                  </a:tcPr>
                </a:tc>
                <a:tc>
                  <a:txBody>
                    <a:bodyPr lIns="54000" rIns="54000" tIns="18000" bIns="18000"/>
                    <a:lstStyle/>
                    <a:p>
                      <a:pPr algn="ctr"/>
                      <a:r>
                        <a:rPr sz="2000" b="1" i="0">
                          <a:solidFill>
                            <a:srgbClr val="102A55"/>
                          </a:solidFill>
                          <a:latin typeface="Calibri"/>
                        </a:rPr>
                        <a:t>Pairs</a:t>
                      </a:r>
                    </a:p>
                  </a:txBody>
                  <a:tcPr>
                    <a:solidFill>
                      <a:srgbClr val="F1F3F8"/>
                    </a:solidFill>
                  </a:tcPr>
                </a:tc>
                <a:tc>
                  <a:txBody>
                    <a:bodyPr lIns="54000" rIns="54000" tIns="18000" bIns="18000"/>
                    <a:lstStyle/>
                    <a:p>
                      <a:pPr algn="ctr"/>
                      <a:r>
                        <a:rPr sz="2000" b="1" i="0">
                          <a:solidFill>
                            <a:srgbClr val="102A55"/>
                          </a:solidFill>
                          <a:latin typeface="Calibri"/>
                        </a:rPr>
                        <a:t>Positives</a:t>
                      </a:r>
                    </a:p>
                  </a:txBody>
                  <a:tcPr>
                    <a:solidFill>
                      <a:srgbClr val="F1F3F8"/>
                    </a:solidFill>
                  </a:tcPr>
                </a:tc>
              </a:tr>
              <a:tr h="495000">
                <a:tc>
                  <a:txBody>
                    <a:bodyPr lIns="54000" rIns="54000" tIns="18000" bIns="18000"/>
                    <a:lstStyle/>
                    <a:p>
                      <a:pPr algn="l"/>
                      <a:r>
                        <a:rPr sz="2000" b="0" i="0">
                          <a:solidFill>
                            <a:srgbClr val="2B2B2B"/>
                          </a:solidFill>
                          <a:latin typeface="Calibri"/>
                        </a:rPr>
                        <a:t>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 tIns="18000" bIns="18000"/>
                    <a:lstStyle/>
                    <a:p>
                      <a:pPr algn="ctr"/>
                      <a:r>
                        <a:rPr sz="2000" b="0" i="0">
                          <a:solidFill>
                            <a:srgbClr val="2B2B2B"/>
                          </a:solidFill>
                          <a:latin typeface="Calibri"/>
                        </a:rPr>
                        <a:t>t = 13 – 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 tIns="18000" bIns="18000"/>
                    <a:lstStyle/>
                    <a:p>
                      <a:pPr algn="ctr"/>
                      <a:r>
                        <a:rPr sz="2000" b="0" i="0">
                          <a:solidFill>
                            <a:srgbClr val="2B2B2B"/>
                          </a:solidFill>
                          <a:latin typeface="Calibri"/>
                        </a:rPr>
                        <a:t>5.0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 tIns="18000" bIns="18000"/>
                    <a:lstStyle/>
                    <a:p>
                      <a:pPr algn="ctr"/>
                      <a:r>
                        <a:rPr sz="2000" b="0" i="0">
                          <a:solidFill>
                            <a:srgbClr val="2B2B2B"/>
                          </a:solidFill>
                          <a:latin typeface="Calibri"/>
                        </a:rPr>
                        <a:t>545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000">
                <a:tc>
                  <a:txBody>
                    <a:bodyPr lIns="54000" rIns="54000" tIns="18000" bIns="18000"/>
                    <a:lstStyle/>
                    <a:p>
                      <a:pPr algn="l"/>
                      <a:r>
                        <a:rPr sz="2000" b="0" i="0">
                          <a:solidFill>
                            <a:srgbClr val="2B2B2B"/>
                          </a:solidFill>
                          <a:latin typeface="Calibri"/>
                        </a:rPr>
                        <a:t>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 tIns="18000" bIns="18000"/>
                    <a:lstStyle/>
                    <a:p>
                      <a:pPr algn="ctr"/>
                      <a:r>
                        <a:rPr sz="2000" b="0" i="0">
                          <a:solidFill>
                            <a:srgbClr val="2B2B2B"/>
                          </a:solidFill>
                          <a:latin typeface="Calibri"/>
                        </a:rPr>
                        <a:t>t = 46, 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 tIns="18000" bIns="18000"/>
                    <a:lstStyle/>
                    <a:p>
                      <a:pPr algn="ctr"/>
                      <a:r>
                        <a:rPr sz="2000" b="0" i="0">
                          <a:solidFill>
                            <a:srgbClr val="2B2B2B"/>
                          </a:solidFill>
                          <a:latin typeface="Calibri"/>
                        </a:rPr>
                        <a:t>184 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 tIns="18000" bIns="18000"/>
                    <a:lstStyle/>
                    <a:p>
                      <a:pPr algn="ctr"/>
                      <a:r>
                        <a:rPr sz="2000" b="0" i="0">
                          <a:solidFill>
                            <a:srgbClr val="2B2B2B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000">
                <a:tc>
                  <a:txBody>
                    <a:bodyPr lIns="54000" rIns="54000" tIns="18000" bIns="18000"/>
                    <a:lstStyle/>
                    <a:p>
                      <a:pPr algn="l"/>
                      <a:r>
                        <a:rPr sz="2000" b="0" i="0">
                          <a:solidFill>
                            <a:srgbClr val="2B2B2B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 tIns="18000" bIns="18000"/>
                    <a:lstStyle/>
                    <a:p>
                      <a:pPr algn="ctr"/>
                      <a:r>
                        <a:rPr sz="2000" b="0" i="0">
                          <a:solidFill>
                            <a:srgbClr val="2B2B2B"/>
                          </a:solidFill>
                          <a:latin typeface="Calibri"/>
                        </a:rPr>
                        <a:t>t = 48, 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 tIns="18000" bIns="18000"/>
                    <a:lstStyle/>
                    <a:p>
                      <a:pPr algn="ctr"/>
                      <a:r>
                        <a:rPr sz="2000" b="0" i="0">
                          <a:solidFill>
                            <a:srgbClr val="2B2B2B"/>
                          </a:solidFill>
                          <a:latin typeface="Calibri"/>
                        </a:rPr>
                        <a:t>149 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 tIns="18000" bIns="18000"/>
                    <a:lstStyle/>
                    <a:p>
                      <a:pPr algn="ctr"/>
                      <a:r>
                        <a:rPr sz="2000" b="0" i="0">
                          <a:solidFill>
                            <a:srgbClr val="2B2B2B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0000" y="6498000"/>
            <a:ext cx="11112119" cy="251999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100" b="0" i="1">
                <a:solidFill>
                  <a:srgbClr val="6E6E6E"/>
                </a:solidFill>
                <a:latin typeface="Calibri"/>
              </a:rPr>
              <a:t>Forward-time split — no shuffle, no leakage.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32119" y="6498000"/>
            <a:ext cx="900000" cy="251999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r"/>
            <a:r>
              <a:rPr sz="1100" b="0" i="0">
                <a:solidFill>
                  <a:srgbClr val="6E6E6E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24000"/>
            <a:ext cx="11112119" cy="648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3600" b="1" i="0">
                <a:solidFill>
                  <a:srgbClr val="102A55"/>
                </a:solidFill>
                <a:latin typeface="Calibri"/>
              </a:rPr>
              <a:t>Temporal Features Drive the Largest Improvement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1026000"/>
            <a:ext cx="11112119" cy="144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8000" y="1440000"/>
          <a:ext cx="5400000" cy="23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/>
                <a:gridCol w="1620000"/>
                <a:gridCol w="1620000"/>
              </a:tblGrid>
              <a:tr h="585000">
                <a:tc>
                  <a:txBody>
                    <a:bodyPr lIns="54000" rIns="54000" tIns="18000" bIns="18000"/>
                    <a:lstStyle/>
                    <a:p>
                      <a:pPr algn="l"/>
                      <a:r>
                        <a:rPr sz="2200" b="1" i="0">
                          <a:solidFill>
                            <a:srgbClr val="102A55"/>
                          </a:solidFill>
                          <a:latin typeface="Calibri"/>
                        </a:rPr>
                        <a:t>Feature set</a:t>
                      </a:r>
                    </a:p>
                  </a:txBody>
                  <a:tcPr>
                    <a:solidFill>
                      <a:srgbClr val="F1F3F8"/>
                    </a:solidFill>
                  </a:tcPr>
                </a:tc>
                <a:tc>
                  <a:txBody>
                    <a:bodyPr lIns="54000" rIns="54000" tIns="18000" bIns="18000"/>
                    <a:lstStyle/>
                    <a:p>
                      <a:pPr algn="ctr"/>
                      <a:r>
                        <a:rPr sz="2200" b="1" i="0">
                          <a:solidFill>
                            <a:srgbClr val="102A55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>
                    <a:solidFill>
                      <a:srgbClr val="F1F3F8"/>
                    </a:solidFill>
                  </a:tcPr>
                </a:tc>
                <a:tc>
                  <a:txBody>
                    <a:bodyPr lIns="54000" rIns="54000" tIns="18000" bIns="18000"/>
                    <a:lstStyle/>
                    <a:p>
                      <a:pPr algn="ctr"/>
                      <a:r>
                        <a:rPr sz="2200" b="1" i="0">
                          <a:solidFill>
                            <a:srgbClr val="102A55"/>
                          </a:solidFill>
                          <a:latin typeface="Calibri"/>
                        </a:rPr>
                        <a:t>PR-AUC</a:t>
                      </a:r>
                    </a:p>
                  </a:txBody>
                  <a:tcPr>
                    <a:solidFill>
                      <a:srgbClr val="F1F3F8"/>
                    </a:solidFill>
                  </a:tcPr>
                </a:tc>
              </a:tr>
              <a:tr h="585000">
                <a:tc>
                  <a:txBody>
                    <a:bodyPr lIns="54000" rIns="54000" tIns="18000" bIns="18000"/>
                    <a:lstStyle/>
                    <a:p>
                      <a:pPr algn="l"/>
                      <a:r>
                        <a:rPr sz="2200" b="0" i="0">
                          <a:solidFill>
                            <a:srgbClr val="2B2B2B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 tIns="18000" bIns="18000"/>
                    <a:lstStyle/>
                    <a:p>
                      <a:pPr algn="ctr"/>
                      <a:r>
                        <a:rPr sz="2200" b="0" i="0">
                          <a:solidFill>
                            <a:srgbClr val="2B2B2B"/>
                          </a:solidFill>
                          <a:latin typeface="Calibri"/>
                        </a:rPr>
                        <a:t>0.88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 tIns="18000" bIns="18000"/>
                    <a:lstStyle/>
                    <a:p>
                      <a:pPr algn="ctr"/>
                      <a:r>
                        <a:rPr sz="2200" b="0" i="0">
                          <a:solidFill>
                            <a:srgbClr val="2B2B2B"/>
                          </a:solidFill>
                          <a:latin typeface="Calibri"/>
                        </a:rPr>
                        <a:t>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000">
                <a:tc>
                  <a:txBody>
                    <a:bodyPr lIns="54000" rIns="54000" tIns="18000" bIns="18000"/>
                    <a:lstStyle/>
                    <a:p>
                      <a:pPr algn="l"/>
                      <a:r>
                        <a:rPr sz="2200" b="1" i="0">
                          <a:solidFill>
                            <a:srgbClr val="C0392B"/>
                          </a:solidFill>
                          <a:latin typeface="Calibri"/>
                        </a:rPr>
                        <a:t>S + 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 tIns="18000" bIns="18000"/>
                    <a:lstStyle/>
                    <a:p>
                      <a:pPr algn="ctr"/>
                      <a:r>
                        <a:rPr sz="2200" b="1" i="0">
                          <a:solidFill>
                            <a:srgbClr val="C0392B"/>
                          </a:solidFill>
                          <a:latin typeface="Calibri"/>
                        </a:rPr>
                        <a:t>0.95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 tIns="18000" bIns="18000"/>
                    <a:lstStyle/>
                    <a:p>
                      <a:pPr algn="ctr"/>
                      <a:r>
                        <a:rPr sz="2200" b="1" i="0">
                          <a:solidFill>
                            <a:srgbClr val="C0392B"/>
                          </a:solidFill>
                          <a:latin typeface="Calibri"/>
                        </a:rPr>
                        <a:t>0.04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000">
                <a:tc>
                  <a:txBody>
                    <a:bodyPr lIns="54000" rIns="54000" tIns="18000" bIns="18000"/>
                    <a:lstStyle/>
                    <a:p>
                      <a:pPr algn="l"/>
                      <a:r>
                        <a:rPr sz="2200" b="0" i="0">
                          <a:solidFill>
                            <a:srgbClr val="2B2B2B"/>
                          </a:solidFill>
                          <a:latin typeface="Calibri"/>
                        </a:rPr>
                        <a:t>S + T + 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 tIns="18000" bIns="18000"/>
                    <a:lstStyle/>
                    <a:p>
                      <a:pPr algn="ctr"/>
                      <a:r>
                        <a:rPr sz="2200" b="0" i="0">
                          <a:solidFill>
                            <a:srgbClr val="2B2B2B"/>
                          </a:solidFill>
                          <a:latin typeface="Calibri"/>
                        </a:rPr>
                        <a:t>0.94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 tIns="18000" bIns="18000"/>
                    <a:lstStyle/>
                    <a:p>
                      <a:pPr algn="ctr"/>
                      <a:r>
                        <a:rPr sz="2200" b="0" i="0">
                          <a:solidFill>
                            <a:srgbClr val="2B2B2B"/>
                          </a:solidFill>
                          <a:latin typeface="Calibri"/>
                        </a:rPr>
                        <a:t>0.07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8000" y="3960000"/>
            <a:ext cx="5400000" cy="2520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2200" b="1" i="0">
                <a:solidFill>
                  <a:srgbClr val="C0392B"/>
                </a:solidFill>
                <a:latin typeface="Calibri"/>
              </a:rPr>
              <a:t>+ T → </a:t>
            </a:r>
            <a:r>
              <a:rPr sz="2200" b="0" i="0">
                <a:solidFill>
                  <a:srgbClr val="2B2B2B"/>
                </a:solidFill>
                <a:latin typeface="Calibri"/>
              </a:rPr>
              <a:t>largest, most consistent jump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2200" b="1" i="0">
                <a:solidFill>
                  <a:srgbClr val="C0392B"/>
                </a:solidFill>
                <a:latin typeface="Calibri"/>
              </a:rPr>
              <a:t>+ C → </a:t>
            </a:r>
            <a:r>
              <a:rPr sz="2200" b="0" i="0">
                <a:solidFill>
                  <a:srgbClr val="2B2B2B"/>
                </a:solidFill>
                <a:latin typeface="Calibri"/>
              </a:rPr>
              <a:t>further PR-AUC gain; ROC-AUC near saturation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2200" b="0" i="1">
                <a:solidFill>
                  <a:srgbClr val="6E6E6E"/>
                </a:solidFill>
                <a:latin typeface="Calibri"/>
              </a:rPr>
              <a:t>Rolling-origin verification confirms temporal lift across folds</a:t>
            </a:r>
          </a:p>
        </p:txBody>
      </p:sp>
      <p:pic>
        <p:nvPicPr>
          <p:cNvPr id="6" name="Picture 5" descr="test_rf_p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000" y="1620000"/>
            <a:ext cx="5400000" cy="424285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000" y="6498000"/>
            <a:ext cx="11112119" cy="251999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100" b="0" i="1">
                <a:solidFill>
                  <a:srgbClr val="6E6E6E"/>
                </a:solidFill>
                <a:latin typeface="Calibri"/>
              </a:rPr>
              <a:t>Random Forest test-set results; PR-AUC curves on the right.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32119" y="6498000"/>
            <a:ext cx="900000" cy="251999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r"/>
            <a:r>
              <a:rPr sz="1100" b="0" i="0">
                <a:solidFill>
                  <a:srgbClr val="6E6E6E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24000"/>
            <a:ext cx="11112119" cy="648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3600" b="1" i="0">
                <a:solidFill>
                  <a:srgbClr val="102A55"/>
                </a:solidFill>
                <a:latin typeface="Calibri"/>
              </a:rPr>
              <a:t>What the Results Tell 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1026000"/>
            <a:ext cx="11112119" cy="144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1440000"/>
            <a:ext cx="6120000" cy="4680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200" b="1" i="0">
                <a:solidFill>
                  <a:srgbClr val="C0392B"/>
                </a:solidFill>
                <a:latin typeface="Calibri"/>
              </a:rPr>
              <a:t>Temporal information is the strongest signal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000" b="0" i="0">
                <a:solidFill>
                  <a:srgbClr val="2B2B2B"/>
                </a:solidFill>
                <a:latin typeface="Calibri"/>
              </a:rPr>
              <a:t>Recency + decayed activity dominate feature importance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200" b="0" i="0">
                <a:solidFill>
                  <a:srgbClr val="2B2B2B"/>
                </a:solidFill>
                <a:latin typeface="Calibri"/>
              </a:rPr>
              <a:t> 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200" b="1" i="0">
                <a:solidFill>
                  <a:srgbClr val="C0392B"/>
                </a:solidFill>
                <a:latin typeface="Calibri"/>
              </a:rPr>
              <a:t>Community features add a nuanced, PR-oriented refinement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000" b="0" i="0">
                <a:solidFill>
                  <a:srgbClr val="2B2B2B"/>
                </a:solidFill>
                <a:latin typeface="Calibri"/>
              </a:rPr>
              <a:t>ROC-AUC saturates near 0.95 — most ranking power already in S + T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200" b="0" i="0">
                <a:solidFill>
                  <a:srgbClr val="2B2B2B"/>
                </a:solidFill>
                <a:latin typeface="Calibri"/>
              </a:rPr>
              <a:t> 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200" b="1" i="0">
                <a:solidFill>
                  <a:srgbClr val="C0392B"/>
                </a:solidFill>
                <a:latin typeface="Calibri"/>
              </a:rPr>
              <a:t>Pair-level neighborhood overlap matters more than community label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000" b="0" i="1">
                <a:solidFill>
                  <a:srgbClr val="6E6E6E"/>
                </a:solidFill>
                <a:latin typeface="Calibri"/>
              </a:rPr>
              <a:t>Same-community pairs are not the safer ones — descriptive, not causal</a:t>
            </a:r>
          </a:p>
        </p:txBody>
      </p:sp>
      <p:pic>
        <p:nvPicPr>
          <p:cNvPr id="5" name="Picture 4" descr="same_vs_cross_positive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0" y="1980000"/>
            <a:ext cx="4500000" cy="28928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0000" y="6498000"/>
            <a:ext cx="11112119" cy="251999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100" b="0" i="1">
                <a:solidFill>
                  <a:srgbClr val="6E6E6E"/>
                </a:solidFill>
                <a:latin typeface="Calibri"/>
              </a:rPr>
              <a:t>Same vs. cross-community positive rate (training data).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32119" y="6498000"/>
            <a:ext cx="900000" cy="251999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r"/>
            <a:r>
              <a:rPr sz="1100" b="0" i="0">
                <a:solidFill>
                  <a:srgbClr val="6E6E6E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24000"/>
            <a:ext cx="11112119" cy="648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3600" b="1" i="0">
                <a:solidFill>
                  <a:srgbClr val="102A55"/>
                </a:solidFill>
                <a:latin typeface="Calibri"/>
              </a:rPr>
              <a:t>Conclusion and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1026000"/>
            <a:ext cx="11112119" cy="144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1440000"/>
            <a:ext cx="5400000" cy="4680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2600" b="1" i="0">
                <a:solidFill>
                  <a:srgbClr val="102A55"/>
                </a:solidFill>
                <a:latin typeface="Calibri"/>
              </a:rPr>
              <a:t>This project</a:t>
            </a:r>
          </a:p>
          <a:p>
            <a:pPr algn="l">
              <a:spcBef>
                <a:spcPts val="1000"/>
              </a:spcBef>
            </a:pPr>
            <a:r>
              <a:rPr sz="2000" b="0" i="0">
                <a:solidFill>
                  <a:srgbClr val="2B2B2B"/>
                </a:solidFill>
                <a:latin typeface="Calibri"/>
              </a:rPr>
              <a:t>• A precise temporal signed-network task, defined end-to-end</a:t>
            </a:r>
          </a:p>
          <a:p>
            <a:pPr algn="l">
              <a:spcBef>
                <a:spcPts val="1000"/>
              </a:spcBef>
            </a:pPr>
            <a:r>
              <a:rPr sz="2000" b="0" i="0">
                <a:solidFill>
                  <a:srgbClr val="2B2B2B"/>
                </a:solidFill>
                <a:latin typeface="Calibri"/>
              </a:rPr>
              <a:t>• An interpretable, leakage-controlled pipeline</a:t>
            </a:r>
          </a:p>
          <a:p>
            <a:pPr algn="l">
              <a:spcBef>
                <a:spcPts val="1000"/>
              </a:spcBef>
            </a:pPr>
            <a:r>
              <a:rPr sz="2000" b="0" i="0">
                <a:solidFill>
                  <a:srgbClr val="2B2B2B"/>
                </a:solidFill>
                <a:latin typeface="Calibri"/>
              </a:rPr>
              <a:t>• Temporal features → strongest, most consistent improvement</a:t>
            </a:r>
          </a:p>
          <a:p>
            <a:pPr algn="l">
              <a:spcBef>
                <a:spcPts val="1000"/>
              </a:spcBef>
            </a:pPr>
            <a:r>
              <a:rPr sz="2000" b="0" i="0">
                <a:solidFill>
                  <a:srgbClr val="2B2B2B"/>
                </a:solidFill>
                <a:latin typeface="Calibri"/>
              </a:rPr>
              <a:t>• Community features → smaller, more nuanced refinement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0" y="1440000"/>
            <a:ext cx="5400000" cy="4680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2600" b="1" i="0">
                <a:solidFill>
                  <a:srgbClr val="102A55"/>
                </a:solidFill>
                <a:latin typeface="Calibri"/>
              </a:rPr>
              <a:t>Future work</a:t>
            </a:r>
          </a:p>
          <a:p>
            <a:pPr algn="l">
              <a:spcBef>
                <a:spcPts val="1000"/>
              </a:spcBef>
            </a:pPr>
            <a:r>
              <a:rPr sz="2000" b="0" i="0">
                <a:solidFill>
                  <a:srgbClr val="2B2B2B"/>
                </a:solidFill>
                <a:latin typeface="Calibri"/>
              </a:rPr>
              <a:t>• External replication on Bitcoin-Alpha</a:t>
            </a:r>
          </a:p>
          <a:p>
            <a:pPr algn="l">
              <a:spcBef>
                <a:spcPts val="1000"/>
              </a:spcBef>
            </a:pPr>
            <a:r>
              <a:rPr sz="2000" b="0" i="0">
                <a:solidFill>
                  <a:srgbClr val="2B2B2B"/>
                </a:solidFill>
                <a:latin typeface="Calibri"/>
              </a:rPr>
              <a:t>• Stronger learning baselines</a:t>
            </a:r>
          </a:p>
          <a:p>
            <a:pPr algn="l">
              <a:spcBef>
                <a:spcPts val="1000"/>
              </a:spcBef>
            </a:pPr>
            <a:r>
              <a:rPr sz="2000" b="0" i="0">
                <a:solidFill>
                  <a:srgbClr val="2B2B2B"/>
                </a:solidFill>
                <a:latin typeface="Calibri"/>
              </a:rPr>
              <a:t>• Deeper community-conditioning analyses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6498000"/>
            <a:ext cx="11112119" cy="251999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100" b="0" i="1">
                <a:solidFill>
                  <a:srgbClr val="6E6E6E"/>
                </a:solidFill>
                <a:latin typeface="Calibri"/>
              </a:rPr>
              <a:t>Thank you · Questions welcome.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32119" y="6498000"/>
            <a:ext cx="900000" cy="251999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r"/>
            <a:r>
              <a:rPr sz="1100" b="0" i="0">
                <a:solidFill>
                  <a:srgbClr val="6E6E6E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