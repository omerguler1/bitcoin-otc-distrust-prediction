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5999" cy="4280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75999" cy="4140000"/>
          </a:xfrm>
          <a:prstGeom prst="rect">
            <a:avLst/>
          </a:prstGeom>
          <a:solidFill>
            <a:srgbClr val="1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503999"/>
            <a:ext cx="28835999" cy="36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0" b="1" i="0">
                <a:solidFill>
                  <a:srgbClr val="FFFFFF"/>
                </a:solidFill>
                <a:latin typeface="Calibri"/>
              </a:rPr>
              <a:t>Early Warning of Distrust in Bitcoin-OTC</a:t>
            </a:r>
          </a:p>
          <a:p>
            <a:pPr algn="l">
              <a:spcBef>
                <a:spcPts val="1000"/>
              </a:spcBef>
            </a:pPr>
            <a:r>
              <a:rPr sz="3000" b="0" i="1">
                <a:solidFill>
                  <a:srgbClr val="CFD8E6"/>
                </a:solidFill>
                <a:latin typeface="Calibri"/>
              </a:rPr>
              <a:t>An Interpretable Temporal-Network Pipeline for Predicting New Negative Trust Edges</a:t>
            </a:r>
          </a:p>
          <a:p>
            <a:pPr algn="l">
              <a:spcBef>
                <a:spcPts val="1600"/>
              </a:spcBef>
            </a:pPr>
            <a:r>
              <a:rPr sz="2000" b="0" i="0">
                <a:solidFill>
                  <a:srgbClr val="E8ECF2"/>
                </a:solidFill>
                <a:latin typeface="Calibri"/>
              </a:rPr>
              <a:t>Ömer Faruk Güler   ·   Hacettepe University   ·   BBM462 Final Project   ·   omer55glr@gmail.com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4644000"/>
            <a:ext cx="28835999" cy="3420000"/>
          </a:xfrm>
          <a:prstGeom prst="roundRect">
            <a:avLst>
              <a:gd name="adj" fmla="val 2500"/>
            </a:avLst>
          </a:prstGeom>
          <a:solidFill>
            <a:srgbClr val="F1F4FA"/>
          </a:solidFill>
          <a:ln w="12700">
            <a:solidFill>
              <a:srgbClr val="10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7999" y="4860000"/>
            <a:ext cx="28260000" cy="10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102A55"/>
                </a:solidFill>
                <a:latin typeface="Calibri"/>
              </a:rPr>
              <a:t>Forecasting where distrust will appear, </a:t>
            </a:r>
            <a:r>
              <a:rPr sz="5000" b="1" i="0">
                <a:solidFill>
                  <a:srgbClr val="C0392B"/>
                </a:solidFill>
                <a:latin typeface="Calibri"/>
              </a:rPr>
              <a:t>one month before it happens.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7999" y="6228000"/>
            <a:ext cx="28260000" cy="1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200" b="0" i="0">
                <a:solidFill>
                  <a:srgbClr val="2B2B2B"/>
                </a:solidFill>
                <a:latin typeface="Calibri"/>
              </a:rPr>
              <a:t>Negative ratings in trust marketplaces are rare, time-sensitive, and high-stakes — yet there is no principled framework for predicting, at the pair level, where new distrust will emerge next.</a:t>
            </a:r>
          </a:p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102A55"/>
                </a:solidFill>
                <a:latin typeface="Calibri"/>
              </a:rPr>
              <a:t>We ask: </a:t>
            </a:r>
            <a:r>
              <a:rPr sz="2200" b="0" i="1">
                <a:solidFill>
                  <a:srgbClr val="2B2B2B"/>
                </a:solidFill>
                <a:latin typeface="Calibri"/>
              </a:rPr>
              <a:t>at the end of month  t,  can we rank user pairs  (u, v)  by their probability of receiving a new negative directed rating in  (t, t + 1]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8567999"/>
            <a:ext cx="6120000" cy="17280000"/>
          </a:xfrm>
          <a:prstGeom prst="roundRect">
            <a:avLst>
              <a:gd name="adj" fmla="val 2500"/>
            </a:avLst>
          </a:prstGeom>
          <a:solidFill>
            <a:srgbClr val="F6F8FB"/>
          </a:solidFill>
          <a:ln w="11430">
            <a:solidFill>
              <a:srgbClr val="CF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6000" y="8747999"/>
            <a:ext cx="5688000" cy="61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02A55"/>
                </a:solidFill>
                <a:latin typeface="Calibri"/>
              </a:rPr>
              <a:t>Context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936000" y="9306000"/>
            <a:ext cx="2559600" cy="36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6000" y="9539999"/>
            <a:ext cx="5688000" cy="21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200" b="1" i="0">
                <a:solidFill>
                  <a:srgbClr val="102A55"/>
                </a:solidFill>
                <a:latin typeface="Calibri"/>
              </a:rPr>
              <a:t>Why this is hard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 i="0">
                <a:solidFill>
                  <a:srgbClr val="2B2B2B"/>
                </a:solidFill>
                <a:latin typeface="Calibri"/>
              </a:rPr>
              <a:t>•  Sign-dependent — any edge ≠ negative edge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 i="0">
                <a:solidFill>
                  <a:srgbClr val="2B2B2B"/>
                </a:solidFill>
                <a:latin typeface="Calibri"/>
              </a:rPr>
              <a:t>•  Heavily imbalanced — rare events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 i="0">
                <a:solidFill>
                  <a:srgbClr val="2B2B2B"/>
                </a:solidFill>
                <a:latin typeface="Calibri"/>
              </a:rPr>
              <a:t>•  Strict temporal causality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 i="0">
                <a:solidFill>
                  <a:srgbClr val="2B2B2B"/>
                </a:solidFill>
                <a:latin typeface="Calibri"/>
              </a:rPr>
              <a:t>•  Ranking metrics — ROC-AUC, PR-AUC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6000" y="13680000"/>
            <a:ext cx="5688000" cy="21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2200" b="1" i="0">
                <a:solidFill>
                  <a:srgbClr val="102A55"/>
                </a:solidFill>
                <a:latin typeface="Calibri"/>
              </a:rPr>
              <a:t>Dataset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2000" b="1" i="0">
                <a:solidFill>
                  <a:srgbClr val="2B2B2B"/>
                </a:solidFill>
                <a:latin typeface="Calibri"/>
              </a:rPr>
              <a:t>Bitcoin-OTC</a:t>
            </a:r>
            <a:r>
              <a:rPr sz="1600" b="0" i="1">
                <a:solidFill>
                  <a:srgbClr val="6E6E6E"/>
                </a:solidFill>
                <a:latin typeface="Calibri"/>
              </a:rPr>
              <a:t>  (SNAP)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800" b="0" i="0">
                <a:solidFill>
                  <a:srgbClr val="2B2B2B"/>
                </a:solidFill>
                <a:latin typeface="Calibri"/>
              </a:rPr>
              <a:t>35,592 ratings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800" b="0" i="0">
                <a:solidFill>
                  <a:srgbClr val="2B2B2B"/>
                </a:solidFill>
                <a:latin typeface="Calibri"/>
              </a:rPr>
              <a:t>5,881 users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800" b="0" i="0">
                <a:solidFill>
                  <a:srgbClr val="2B2B2B"/>
                </a:solidFill>
                <a:latin typeface="Calibri"/>
              </a:rPr>
              <a:t>Nov 2010 — Jan 2016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Edge:</a:t>
            </a:r>
            <a:r>
              <a:rPr sz="1600" b="0" i="1">
                <a:solidFill>
                  <a:srgbClr val="2B2B2B"/>
                </a:solidFill>
                <a:latin typeface="Calibri"/>
              </a:rPr>
              <a:t>  (u → v, r ∈ [−10, 10], ts)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800" b="0" i="0">
                <a:solidFill>
                  <a:srgbClr val="2B2B2B"/>
                </a:solidFill>
                <a:latin typeface="Calibri"/>
              </a:rPr>
              <a:t>≈ 90 % positive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800" b="0" i="0">
                <a:solidFill>
                  <a:srgbClr val="2B2B2B"/>
                </a:solidFill>
                <a:latin typeface="Calibri"/>
              </a:rPr>
              <a:t>≈ 10 % negative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800" b="0" i="0">
                <a:solidFill>
                  <a:srgbClr val="2B2B2B"/>
                </a:solidFill>
                <a:latin typeface="Calibri"/>
              </a:rPr>
              <a:t>reciprocity 0.79</a:t>
            </a:r>
          </a:p>
        </p:txBody>
      </p:sp>
      <p:pic>
        <p:nvPicPr>
          <p:cNvPr id="12" name="Picture 11" descr="edges_per_mon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000" y="19800000"/>
            <a:ext cx="5688000" cy="2488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36000" y="22359600"/>
            <a:ext cx="5688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E6E6E"/>
                </a:solidFill>
                <a:latin typeface="Calibri"/>
              </a:rPr>
              <a:t>Monthly interaction volume.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88000" y="8567999"/>
            <a:ext cx="12239999" cy="17280000"/>
          </a:xfrm>
          <a:prstGeom prst="roundRect">
            <a:avLst>
              <a:gd name="adj" fmla="val 2500"/>
            </a:avLst>
          </a:prstGeom>
          <a:solidFill>
            <a:srgbClr val="F6F8FB"/>
          </a:solidFill>
          <a:ln w="11430">
            <a:solidFill>
              <a:srgbClr val="CF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40000" y="8747999"/>
            <a:ext cx="11735999" cy="61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02A55"/>
                </a:solidFill>
                <a:latin typeface="Calibri"/>
              </a:rPr>
              <a:t>Our Approach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40000" y="9306000"/>
            <a:ext cx="5281199" cy="36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0000" y="9539999"/>
            <a:ext cx="11735999" cy="21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500" b="1" i="0">
                <a:solidFill>
                  <a:srgbClr val="C0392B"/>
                </a:solidFill>
                <a:latin typeface="Calibri"/>
              </a:rPr>
              <a:t>We developed an interpretable, leakage-controlled prediction pipeline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100" b="0" i="1">
                <a:solidFill>
                  <a:srgbClr val="354C76"/>
                </a:solidFill>
                <a:latin typeface="Calibri"/>
              </a:rPr>
              <a:t>for new negative trust edges in a temporal signed network.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40000" y="10979999"/>
            <a:ext cx="2059199" cy="1980000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 w="15240">
            <a:solidFill>
              <a:srgbClr val="10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90000" bIns="90000" wrap="square"/>
          <a:lstStyle/>
          <a:p>
            <a:pPr algn="ctr"/>
            <a:r>
              <a:rPr sz="2200" b="1" i="0">
                <a:solidFill>
                  <a:srgbClr val="102A55"/>
                </a:solidFill>
                <a:latin typeface="Calibri"/>
              </a:rPr>
              <a:t>Raw events</a:t>
            </a:r>
          </a:p>
          <a:p>
            <a:pPr algn="ctr">
              <a:spcBef>
                <a:spcPts val="400"/>
              </a:spcBef>
            </a:pPr>
            <a:r>
              <a:rPr sz="1300" b="0" i="1">
                <a:solidFill>
                  <a:srgbClr val="6E6E6E"/>
                </a:solidFill>
                <a:latin typeface="Calibri"/>
              </a:rPr>
              <a:t>u → v, rating, ts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817200" y="11807999"/>
            <a:ext cx="324000" cy="324000"/>
          </a:xfrm>
          <a:prstGeom prst="rightArrow">
            <a:avLst/>
          </a:prstGeom>
          <a:solidFill>
            <a:srgbClr val="1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159200" y="10979999"/>
            <a:ext cx="2059199" cy="1980000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 w="15240">
            <a:solidFill>
              <a:srgbClr val="10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90000" bIns="90000" wrap="square"/>
          <a:lstStyle/>
          <a:p>
            <a:pPr algn="ctr"/>
            <a:r>
              <a:rPr sz="2200" b="1" i="0">
                <a:solidFill>
                  <a:srgbClr val="102A55"/>
                </a:solidFill>
                <a:latin typeface="Calibri"/>
              </a:rPr>
              <a:t>Snapshots</a:t>
            </a:r>
          </a:p>
          <a:p>
            <a:pPr algn="ctr">
              <a:spcBef>
                <a:spcPts val="400"/>
              </a:spcBef>
            </a:pPr>
            <a:r>
              <a:rPr sz="1300" b="0" i="1">
                <a:solidFill>
                  <a:srgbClr val="6E6E6E"/>
                </a:solidFill>
                <a:latin typeface="Calibri"/>
              </a:rPr>
              <a:t>monthly, cumulative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12236399" y="11807999"/>
            <a:ext cx="324000" cy="324000"/>
          </a:xfrm>
          <a:prstGeom prst="rightArrow">
            <a:avLst/>
          </a:prstGeom>
          <a:solidFill>
            <a:srgbClr val="1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2578400" y="10979999"/>
            <a:ext cx="2059199" cy="1980000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 w="15240">
            <a:solidFill>
              <a:srgbClr val="10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90000" bIns="90000" wrap="square"/>
          <a:lstStyle/>
          <a:p>
            <a:pPr algn="ctr"/>
            <a:r>
              <a:rPr sz="2200" b="1" i="0">
                <a:solidFill>
                  <a:srgbClr val="102A55"/>
                </a:solidFill>
                <a:latin typeface="Calibri"/>
              </a:rPr>
              <a:t>Candidates</a:t>
            </a:r>
          </a:p>
          <a:p>
            <a:pPr algn="ctr">
              <a:spcBef>
                <a:spcPts val="400"/>
              </a:spcBef>
            </a:pPr>
            <a:r>
              <a:rPr sz="1300" b="0" i="1">
                <a:solidFill>
                  <a:srgbClr val="6E6E6E"/>
                </a:solidFill>
                <a:latin typeface="Calibri"/>
              </a:rPr>
              <a:t>+ labels (2-hop, core)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14655599" y="11807999"/>
            <a:ext cx="324000" cy="324000"/>
          </a:xfrm>
          <a:prstGeom prst="rightArrow">
            <a:avLst/>
          </a:prstGeom>
          <a:solidFill>
            <a:srgbClr val="1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4997599" y="10979999"/>
            <a:ext cx="2059199" cy="1980000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 w="15240">
            <a:solidFill>
              <a:srgbClr val="10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90000" bIns="90000" wrap="square"/>
          <a:lstStyle/>
          <a:p>
            <a:pPr algn="ctr"/>
            <a:r>
              <a:rPr sz="2200" b="1" i="0">
                <a:solidFill>
                  <a:srgbClr val="102A55"/>
                </a:solidFill>
                <a:latin typeface="Calibri"/>
              </a:rPr>
              <a:t>36 features</a:t>
            </a:r>
          </a:p>
          <a:p>
            <a:pPr algn="ctr">
              <a:spcBef>
                <a:spcPts val="400"/>
              </a:spcBef>
            </a:pPr>
            <a:r>
              <a:rPr sz="1300" b="0" i="1">
                <a:solidFill>
                  <a:srgbClr val="6E6E6E"/>
                </a:solidFill>
                <a:latin typeface="Calibri"/>
              </a:rPr>
              <a:t>5 interpretable families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17074799" y="11807999"/>
            <a:ext cx="324000" cy="324000"/>
          </a:xfrm>
          <a:prstGeom prst="rightArrow">
            <a:avLst/>
          </a:prstGeom>
          <a:solidFill>
            <a:srgbClr val="1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7416800" y="10979999"/>
            <a:ext cx="2059199" cy="1980000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 w="15240">
            <a:solidFill>
              <a:srgbClr val="10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90000" bIns="90000" wrap="square"/>
          <a:lstStyle/>
          <a:p>
            <a:pPr algn="ctr"/>
            <a:r>
              <a:rPr sz="2200" b="1" i="0">
                <a:solidFill>
                  <a:srgbClr val="102A55"/>
                </a:solidFill>
                <a:latin typeface="Calibri"/>
              </a:rPr>
              <a:t>Models</a:t>
            </a:r>
          </a:p>
          <a:p>
            <a:pPr algn="ctr">
              <a:spcBef>
                <a:spcPts val="400"/>
              </a:spcBef>
            </a:pPr>
            <a:r>
              <a:rPr sz="1300" b="0" i="1">
                <a:solidFill>
                  <a:srgbClr val="6E6E6E"/>
                </a:solidFill>
                <a:latin typeface="Calibri"/>
              </a:rPr>
              <a:t>LR  /  RF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40000" y="13032000"/>
            <a:ext cx="11735999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0" i="1">
                <a:solidFill>
                  <a:srgbClr val="6E6E6E"/>
                </a:solidFill>
                <a:latin typeface="Calibri"/>
              </a:rPr>
              <a:t>Leakage boundary:  only events with  ts ≤ end_of_month(t)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40000" y="13500000"/>
            <a:ext cx="11735999" cy="21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200" b="1" i="0">
                <a:solidFill>
                  <a:srgbClr val="102A55"/>
                </a:solidFill>
                <a:latin typeface="Calibri"/>
              </a:rPr>
              <a:t>Feature families  </a:t>
            </a:r>
            <a:r>
              <a:rPr sz="1800" b="0" i="1">
                <a:solidFill>
                  <a:srgbClr val="6E6E6E"/>
                </a:solidFill>
                <a:latin typeface="Calibri"/>
              </a:rPr>
              <a:t>·  36 features in 4 interpretable groups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40000" y="14040000"/>
            <a:ext cx="2798999" cy="1728000"/>
          </a:xfrm>
          <a:prstGeom prst="roundRect">
            <a:avLst>
              <a:gd name="adj" fmla="val 8000"/>
            </a:avLst>
          </a:prstGeom>
          <a:solidFill>
            <a:srgbClr val="EEEEEE"/>
          </a:solidFill>
          <a:ln w="6350">
            <a:solidFill>
              <a:srgbClr val="CF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79200" bIns="79200" wrap="square"/>
          <a:lstStyle/>
          <a:p>
            <a:pPr algn="l"/>
            <a:r>
              <a:rPr sz="2000" b="1" i="0">
                <a:solidFill>
                  <a:srgbClr val="C0392B"/>
                </a:solidFill>
                <a:latin typeface="Calibri"/>
              </a:rPr>
              <a:t>S</a:t>
            </a:r>
            <a:r>
              <a:rPr sz="1800" b="1" i="0">
                <a:solidFill>
                  <a:srgbClr val="102A55"/>
                </a:solidFill>
                <a:latin typeface="Calibri"/>
              </a:rPr>
              <a:t>  Structural · 12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CN · Jaccard · AA · PA · signed degrees · reciprocity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19000" y="14040000"/>
            <a:ext cx="2798999" cy="1728000"/>
          </a:xfrm>
          <a:prstGeom prst="roundRect">
            <a:avLst>
              <a:gd name="adj" fmla="val 8000"/>
            </a:avLst>
          </a:prstGeom>
          <a:solidFill>
            <a:srgbClr val="E7ECF4"/>
          </a:solidFill>
          <a:ln w="6350">
            <a:solidFill>
              <a:srgbClr val="CF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79200" bIns="79200" wrap="square"/>
          <a:lstStyle/>
          <a:p>
            <a:pPr algn="l"/>
            <a:r>
              <a:rPr sz="2000" b="1" i="0">
                <a:solidFill>
                  <a:srgbClr val="C0392B"/>
                </a:solidFill>
                <a:latin typeface="Calibri"/>
              </a:rPr>
              <a:t>+</a:t>
            </a:r>
            <a:r>
              <a:rPr sz="1800" b="1" i="0">
                <a:solidFill>
                  <a:srgbClr val="102A55"/>
                </a:solidFill>
                <a:latin typeface="Calibri"/>
              </a:rPr>
              <a:t>  Trust-summary · 4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mean rating given/received · negative ratios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3697999" y="14040000"/>
            <a:ext cx="2798999" cy="1728000"/>
          </a:xfrm>
          <a:prstGeom prst="roundRect">
            <a:avLst>
              <a:gd name="adj" fmla="val 8000"/>
            </a:avLst>
          </a:prstGeom>
          <a:solidFill>
            <a:srgbClr val="FBE5DF"/>
          </a:solidFill>
          <a:ln w="6350">
            <a:solidFill>
              <a:srgbClr val="CF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79200" bIns="79200" wrap="square"/>
          <a:lstStyle/>
          <a:p>
            <a:pPr algn="l"/>
            <a:r>
              <a:rPr sz="2000" b="1" i="0">
                <a:solidFill>
                  <a:srgbClr val="C0392B"/>
                </a:solidFill>
                <a:latin typeface="Calibri"/>
              </a:rPr>
              <a:t>+T</a:t>
            </a:r>
            <a:r>
              <a:rPr sz="1800" b="1" i="0">
                <a:solidFill>
                  <a:srgbClr val="102A55"/>
                </a:solidFill>
                <a:latin typeface="Calibri"/>
              </a:rPr>
              <a:t>  Temporal · 12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recency · recent counts · decay (τ = 60 d)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6676999" y="14040000"/>
            <a:ext cx="2798999" cy="1728000"/>
          </a:xfrm>
          <a:prstGeom prst="roundRect">
            <a:avLst>
              <a:gd name="adj" fmla="val 8000"/>
            </a:avLst>
          </a:prstGeom>
          <a:solidFill>
            <a:srgbClr val="E3EEE4"/>
          </a:solidFill>
          <a:ln w="6350">
            <a:solidFill>
              <a:srgbClr val="CF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79200" bIns="79200" wrap="square"/>
          <a:lstStyle/>
          <a:p>
            <a:pPr algn="l"/>
            <a:r>
              <a:rPr sz="2000" b="1" i="0">
                <a:solidFill>
                  <a:srgbClr val="C0392B"/>
                </a:solidFill>
                <a:latin typeface="Calibri"/>
              </a:rPr>
              <a:t>+C</a:t>
            </a:r>
            <a:r>
              <a:rPr sz="1800" b="1" i="0">
                <a:solidFill>
                  <a:srgbClr val="102A55"/>
                </a:solidFill>
                <a:latin typeface="Calibri"/>
              </a:rPr>
              <a:t>  Community · 8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Louvain · same_community · neighborhood overlap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40000" y="16200000"/>
            <a:ext cx="11735999" cy="21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100" b="1" i="0">
                <a:solidFill>
                  <a:srgbClr val="102A55"/>
                </a:solidFill>
                <a:latin typeface="Calibri"/>
              </a:rPr>
              <a:t>Models  </a:t>
            </a:r>
            <a:r>
              <a:rPr sz="2100" b="0" i="0">
                <a:solidFill>
                  <a:srgbClr val="2B2B2B"/>
                </a:solidFill>
                <a:latin typeface="Calibri"/>
              </a:rPr>
              <a:t>Logistic Regression  ·  Random Forest</a:t>
            </a:r>
            <a:r>
              <a:rPr sz="1700" b="0" i="1">
                <a:solidFill>
                  <a:srgbClr val="6E6E6E"/>
                </a:solidFill>
                <a:latin typeface="Calibri"/>
              </a:rPr>
              <a:t>    no tuning · seeds = 42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40000" y="16920000"/>
            <a:ext cx="11735999" cy="21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100" b="1" i="0">
                <a:solidFill>
                  <a:srgbClr val="102A55"/>
                </a:solidFill>
                <a:latin typeface="Calibri"/>
              </a:rPr>
              <a:t>Evaluation  </a:t>
            </a:r>
            <a:r>
              <a:rPr sz="1700" b="0" i="1">
                <a:solidFill>
                  <a:srgbClr val="6E6E6E"/>
                </a:solidFill>
                <a:latin typeface="Calibri"/>
              </a:rPr>
              <a:t>forward-time split, ranking metrics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7740000" y="17568000"/>
          <a:ext cx="11735996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2479"/>
                <a:gridCol w="4107599"/>
                <a:gridCol w="2816639"/>
                <a:gridCol w="2699279"/>
              </a:tblGrid>
              <a:tr h="540000">
                <a:tc>
                  <a:txBody>
                    <a:bodyPr lIns="72000" rIns="72000" tIns="21600" bIns="21600"/>
                    <a:lstStyle/>
                    <a:p>
                      <a:pPr algn="l"/>
                      <a:r>
                        <a:rPr sz="1900" b="1" i="0">
                          <a:solidFill>
                            <a:srgbClr val="102A55"/>
                          </a:solidFill>
                          <a:latin typeface="Calibri"/>
                        </a:rPr>
                        <a:t>Split</a:t>
                      </a:r>
                    </a:p>
                  </a:txBody>
                  <a:tcPr>
                    <a:solidFill>
                      <a:srgbClr val="F1F4FA"/>
                    </a:solidFill>
                  </a:tcPr>
                </a:tc>
                <a:tc>
                  <a:txBody>
                    <a:bodyPr lIns="72000" rIns="72000" tIns="21600" bIns="21600"/>
                    <a:lstStyle/>
                    <a:p>
                      <a:pPr algn="ctr"/>
                      <a:r>
                        <a:rPr sz="1900" b="1" i="0">
                          <a:solidFill>
                            <a:srgbClr val="102A55"/>
                          </a:solidFill>
                          <a:latin typeface="Calibri"/>
                        </a:rPr>
                        <a:t>Months</a:t>
                      </a:r>
                    </a:p>
                  </a:txBody>
                  <a:tcPr>
                    <a:solidFill>
                      <a:srgbClr val="F1F4FA"/>
                    </a:solidFill>
                  </a:tcPr>
                </a:tc>
                <a:tc>
                  <a:txBody>
                    <a:bodyPr lIns="72000" rIns="72000" tIns="21600" bIns="21600"/>
                    <a:lstStyle/>
                    <a:p>
                      <a:pPr algn="ctr"/>
                      <a:r>
                        <a:rPr sz="1900" b="1" i="0">
                          <a:solidFill>
                            <a:srgbClr val="102A55"/>
                          </a:solidFill>
                          <a:latin typeface="Calibri"/>
                        </a:rPr>
                        <a:t>Pairs</a:t>
                      </a:r>
                    </a:p>
                  </a:txBody>
                  <a:tcPr>
                    <a:solidFill>
                      <a:srgbClr val="F1F4FA"/>
                    </a:solidFill>
                  </a:tcPr>
                </a:tc>
                <a:tc>
                  <a:txBody>
                    <a:bodyPr lIns="72000" rIns="72000" tIns="21600" bIns="21600"/>
                    <a:lstStyle/>
                    <a:p>
                      <a:pPr algn="ctr"/>
                      <a:r>
                        <a:rPr sz="1900" b="1" i="0">
                          <a:solidFill>
                            <a:srgbClr val="102A55"/>
                          </a:solidFill>
                          <a:latin typeface="Calibri"/>
                        </a:rPr>
                        <a:t>Positives</a:t>
                      </a:r>
                    </a:p>
                  </a:txBody>
                  <a:tcPr>
                    <a:solidFill>
                      <a:srgbClr val="F1F4FA"/>
                    </a:solidFill>
                  </a:tcPr>
                </a:tc>
              </a:tr>
              <a:tr h="540000">
                <a:tc>
                  <a:txBody>
                    <a:bodyPr lIns="72000" rIns="72000" tIns="21600" bIns="21600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Calibri"/>
                        </a:rPr>
                        <a:t>TRAIN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 tIns="21600" bIns="21600"/>
                    <a:lstStyle/>
                    <a:p>
                      <a:pPr algn="ctr"/>
                      <a:r>
                        <a:rPr sz="1900" b="0" i="0">
                          <a:solidFill>
                            <a:srgbClr val="2B2B2B"/>
                          </a:solidFill>
                          <a:latin typeface="Calibri"/>
                        </a:rPr>
                        <a:t>t = 13 – 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 tIns="21600" bIns="21600"/>
                    <a:lstStyle/>
                    <a:p>
                      <a:pPr algn="ctr"/>
                      <a:r>
                        <a:rPr sz="1900" b="0" i="0">
                          <a:solidFill>
                            <a:srgbClr val="2B2B2B"/>
                          </a:solidFill>
                          <a:latin typeface="Calibri"/>
                        </a:rPr>
                        <a:t>5.0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 tIns="21600" bIns="21600"/>
                    <a:lstStyle/>
                    <a:p>
                      <a:pPr algn="ctr"/>
                      <a:r>
                        <a:rPr sz="1900" b="0" i="0">
                          <a:solidFill>
                            <a:srgbClr val="2B2B2B"/>
                          </a:solidFill>
                          <a:latin typeface="Calibri"/>
                        </a:rPr>
                        <a:t>545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 lIns="72000" rIns="72000" tIns="21600" bIns="21600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Calibri"/>
                        </a:rPr>
                        <a:t>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 tIns="21600" bIns="21600"/>
                    <a:lstStyle/>
                    <a:p>
                      <a:pPr algn="ctr"/>
                      <a:r>
                        <a:rPr sz="1900" b="0" i="0">
                          <a:solidFill>
                            <a:srgbClr val="2B2B2B"/>
                          </a:solidFill>
                          <a:latin typeface="Calibri"/>
                        </a:rPr>
                        <a:t>t = 46, 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 tIns="21600" bIns="21600"/>
                    <a:lstStyle/>
                    <a:p>
                      <a:pPr algn="ctr"/>
                      <a:r>
                        <a:rPr sz="1900" b="0" i="0">
                          <a:solidFill>
                            <a:srgbClr val="2B2B2B"/>
                          </a:solidFill>
                          <a:latin typeface="Calibri"/>
                        </a:rPr>
                        <a:t>184 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 tIns="21600" bIns="21600"/>
                    <a:lstStyle/>
                    <a:p>
                      <a:pPr algn="ctr"/>
                      <a:r>
                        <a:rPr sz="1900" b="0" i="0">
                          <a:solidFill>
                            <a:srgbClr val="2B2B2B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 lIns="72000" rIns="72000" tIns="21600" bIns="21600"/>
                    <a:lstStyle/>
                    <a:p>
                      <a:pPr algn="l"/>
                      <a:r>
                        <a:rPr sz="1900" b="0" i="0">
                          <a:solidFill>
                            <a:srgbClr val="2B2B2B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 tIns="21600" bIns="21600"/>
                    <a:lstStyle/>
                    <a:p>
                      <a:pPr algn="ctr"/>
                      <a:r>
                        <a:rPr sz="1900" b="0" i="0">
                          <a:solidFill>
                            <a:srgbClr val="2B2B2B"/>
                          </a:solidFill>
                          <a:latin typeface="Calibri"/>
                        </a:rPr>
                        <a:t>t = 48, 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 tIns="21600" bIns="21600"/>
                    <a:lstStyle/>
                    <a:p>
                      <a:pPr algn="ctr"/>
                      <a:r>
                        <a:rPr sz="1900" b="0" i="0">
                          <a:solidFill>
                            <a:srgbClr val="2B2B2B"/>
                          </a:solidFill>
                          <a:latin typeface="Calibri"/>
                        </a:rPr>
                        <a:t>149 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 tIns="21600" bIns="21600"/>
                    <a:lstStyle/>
                    <a:p>
                      <a:pPr algn="ctr"/>
                      <a:r>
                        <a:rPr sz="1900" b="0" i="0">
                          <a:solidFill>
                            <a:srgbClr val="2B2B2B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" name="Rounded Rectangle 35"/>
          <p:cNvSpPr/>
          <p:nvPr/>
        </p:nvSpPr>
        <p:spPr>
          <a:xfrm>
            <a:off x="20375999" y="8567999"/>
            <a:ext cx="9180000" cy="17280000"/>
          </a:xfrm>
          <a:prstGeom prst="roundRect">
            <a:avLst>
              <a:gd name="adj" fmla="val 2500"/>
            </a:avLst>
          </a:prstGeom>
          <a:solidFill>
            <a:srgbClr val="FDF5F3"/>
          </a:solidFill>
          <a:ln w="12700">
            <a:solidFill>
              <a:srgbClr val="EBC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592000" y="8747999"/>
            <a:ext cx="8748000" cy="61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02A55"/>
                </a:solidFill>
                <a:latin typeface="Calibri"/>
              </a:rPr>
              <a:t>Results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592000" y="9306000"/>
            <a:ext cx="3936600" cy="36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592000" y="9539999"/>
            <a:ext cx="8748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02A55"/>
                </a:solidFill>
                <a:latin typeface="Calibri"/>
              </a:rPr>
              <a:t>Headline finding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92000" y="10043999"/>
            <a:ext cx="8748000" cy="2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0" i="1">
                <a:solidFill>
                  <a:srgbClr val="6E6E6E"/>
                </a:solidFill>
                <a:latin typeface="Calibri"/>
              </a:rPr>
              <a:t>ROC-AUC</a:t>
            </a:r>
          </a:p>
          <a:p>
            <a:pPr algn="ctr">
              <a:spcBef>
                <a:spcPts val="400"/>
              </a:spcBef>
            </a:pPr>
            <a:r>
              <a:rPr sz="8200" b="1" i="0">
                <a:solidFill>
                  <a:srgbClr val="102A55"/>
                </a:solidFill>
                <a:latin typeface="Calibri"/>
              </a:rPr>
              <a:t>0.88 </a:t>
            </a:r>
            <a:r>
              <a:rPr sz="7200" b="0" i="0">
                <a:solidFill>
                  <a:srgbClr val="6E6E6E"/>
                </a:solidFill>
                <a:latin typeface="Calibri"/>
              </a:rPr>
              <a:t>→ </a:t>
            </a:r>
            <a:r>
              <a:rPr sz="8200" b="1" i="0">
                <a:solidFill>
                  <a:srgbClr val="C0392B"/>
                </a:solidFill>
                <a:latin typeface="Calibri"/>
              </a:rPr>
              <a:t>0.95</a:t>
            </a:r>
          </a:p>
          <a:p>
            <a:pPr algn="ctr">
              <a:spcBef>
                <a:spcPts val="400"/>
              </a:spcBef>
            </a:pPr>
            <a:r>
              <a:rPr sz="1800" b="0" i="1">
                <a:solidFill>
                  <a:srgbClr val="6E6E6E"/>
                </a:solidFill>
                <a:latin typeface="Calibri"/>
              </a:rPr>
              <a:t>structural   →   structural + temporal</a:t>
            </a:r>
          </a:p>
          <a:p>
            <a:pPr algn="ctr">
              <a:spcBef>
                <a:spcPts val="400"/>
              </a:spcBef>
            </a:pPr>
            <a:r>
              <a:rPr sz="1800" b="0" i="1">
                <a:solidFill>
                  <a:srgbClr val="354C76"/>
                </a:solidFill>
                <a:latin typeface="Calibri"/>
              </a:rPr>
              <a:t>the largest single jump in our ablation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92000" y="13463999"/>
            <a:ext cx="8748000" cy="21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000" b="1" i="0">
                <a:solidFill>
                  <a:srgbClr val="102A55"/>
                </a:solidFill>
                <a:latin typeface="Calibri"/>
              </a:rPr>
              <a:t>Random Forest</a:t>
            </a:r>
            <a:r>
              <a:rPr sz="1800" b="0" i="1">
                <a:solidFill>
                  <a:srgbClr val="6E6E6E"/>
                </a:solidFill>
                <a:latin typeface="Calibri"/>
              </a:rPr>
              <a:t>,  held-out test fold</a:t>
            </a:r>
          </a:p>
        </p:txBody>
      </p: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20592000" y="14075999"/>
          <a:ext cx="8748000" cy="201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4160"/>
                <a:gridCol w="2536920"/>
                <a:gridCol w="2536920"/>
              </a:tblGrid>
              <a:tr h="503999">
                <a:tc>
                  <a:txBody>
                    <a:bodyPr lIns="90000" rIns="90000" tIns="21600" bIns="21600"/>
                    <a:lstStyle/>
                    <a:p>
                      <a:pPr algn="l"/>
                      <a:r>
                        <a:rPr sz="2200" b="1" i="0">
                          <a:solidFill>
                            <a:srgbClr val="102A55"/>
                          </a:solidFill>
                          <a:latin typeface="Calibri"/>
                        </a:rPr>
                        <a:t>Feature set</a:t>
                      </a:r>
                    </a:p>
                  </a:txBody>
                  <a:tcPr>
                    <a:solidFill>
                      <a:srgbClr val="F1F4FA"/>
                    </a:solidFill>
                  </a:tcPr>
                </a:tc>
                <a:tc>
                  <a:txBody>
                    <a:bodyPr lIns="90000" rIns="90000" tIns="21600" bIns="21600"/>
                    <a:lstStyle/>
                    <a:p>
                      <a:pPr algn="ctr"/>
                      <a:r>
                        <a:rPr sz="2200" b="1" i="0">
                          <a:solidFill>
                            <a:srgbClr val="102A55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>
                    <a:solidFill>
                      <a:srgbClr val="F1F4FA"/>
                    </a:solidFill>
                  </a:tcPr>
                </a:tc>
                <a:tc>
                  <a:txBody>
                    <a:bodyPr lIns="90000" rIns="90000" tIns="21600" bIns="21600"/>
                    <a:lstStyle/>
                    <a:p>
                      <a:pPr algn="ctr"/>
                      <a:r>
                        <a:rPr sz="2200" b="1" i="0">
                          <a:solidFill>
                            <a:srgbClr val="102A55"/>
                          </a:solidFill>
                          <a:latin typeface="Calibri"/>
                        </a:rPr>
                        <a:t>PR-AUC</a:t>
                      </a:r>
                    </a:p>
                  </a:txBody>
                  <a:tcPr>
                    <a:solidFill>
                      <a:srgbClr val="F1F4FA"/>
                    </a:solidFill>
                  </a:tcPr>
                </a:tc>
              </a:tr>
              <a:tr h="503999">
                <a:tc>
                  <a:txBody>
                    <a:bodyPr lIns="90000" rIns="90000" tIns="21600" bIns="21600"/>
                    <a:lstStyle/>
                    <a:p>
                      <a:pPr algn="l"/>
                      <a:r>
                        <a:rPr sz="2200" b="0" i="0">
                          <a:solidFill>
                            <a:srgbClr val="2B2B2B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90000" rIns="90000" tIns="21600" bIns="21600"/>
                    <a:lstStyle/>
                    <a:p>
                      <a:pPr algn="ctr"/>
                      <a:r>
                        <a:rPr sz="2200" b="0" i="0">
                          <a:solidFill>
                            <a:srgbClr val="2B2B2B"/>
                          </a:solidFill>
                          <a:latin typeface="Calibri"/>
                        </a:rPr>
                        <a:t>0.88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90000" rIns="90000" tIns="21600" bIns="21600"/>
                    <a:lstStyle/>
                    <a:p>
                      <a:pPr algn="ctr"/>
                      <a:r>
                        <a:rPr sz="2200" b="0" i="0">
                          <a:solidFill>
                            <a:srgbClr val="2B2B2B"/>
                          </a:solidFill>
                          <a:latin typeface="Calibri"/>
                        </a:rPr>
                        <a:t>0.02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3999">
                <a:tc>
                  <a:txBody>
                    <a:bodyPr lIns="90000" rIns="90000" tIns="21600" bIns="21600"/>
                    <a:lstStyle/>
                    <a:p>
                      <a:pPr algn="l"/>
                      <a:r>
                        <a:rPr sz="2200" b="1" i="0">
                          <a:solidFill>
                            <a:srgbClr val="C0392B"/>
                          </a:solidFill>
                          <a:latin typeface="Calibri"/>
                        </a:rPr>
                        <a:t>S + T</a:t>
                      </a:r>
                    </a:p>
                  </a:txBody>
                  <a:tcPr>
                    <a:solidFill>
                      <a:srgbClr val="FDE7E3"/>
                    </a:solidFill>
                  </a:tcPr>
                </a:tc>
                <a:tc>
                  <a:txBody>
                    <a:bodyPr lIns="90000" rIns="90000" tIns="21600" bIns="21600"/>
                    <a:lstStyle/>
                    <a:p>
                      <a:pPr algn="ctr"/>
                      <a:r>
                        <a:rPr sz="2200" b="1" i="0">
                          <a:solidFill>
                            <a:srgbClr val="C0392B"/>
                          </a:solidFill>
                          <a:latin typeface="Calibri"/>
                        </a:rPr>
                        <a:t>0.95</a:t>
                      </a:r>
                    </a:p>
                  </a:txBody>
                  <a:tcPr>
                    <a:solidFill>
                      <a:srgbClr val="FDE7E3"/>
                    </a:solidFill>
                  </a:tcPr>
                </a:tc>
                <a:tc>
                  <a:txBody>
                    <a:bodyPr lIns="90000" rIns="90000" tIns="21600" bIns="21600"/>
                    <a:lstStyle/>
                    <a:p>
                      <a:pPr algn="ctr"/>
                      <a:r>
                        <a:rPr sz="2200" b="1" i="0">
                          <a:solidFill>
                            <a:srgbClr val="C0392B"/>
                          </a:solidFill>
                          <a:latin typeface="Calibri"/>
                        </a:rPr>
                        <a:t>0.04</a:t>
                      </a:r>
                    </a:p>
                  </a:txBody>
                  <a:tcPr>
                    <a:solidFill>
                      <a:srgbClr val="FDE7E3"/>
                    </a:solidFill>
                  </a:tcPr>
                </a:tc>
              </a:tr>
              <a:tr h="504002">
                <a:tc>
                  <a:txBody>
                    <a:bodyPr lIns="90000" rIns="90000" tIns="21600" bIns="21600"/>
                    <a:lstStyle/>
                    <a:p>
                      <a:pPr algn="l"/>
                      <a:r>
                        <a:rPr sz="2200" b="0" i="0">
                          <a:solidFill>
                            <a:srgbClr val="2B2B2B"/>
                          </a:solidFill>
                          <a:latin typeface="Calibri"/>
                        </a:rPr>
                        <a:t>S + T + 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90000" rIns="90000" tIns="21600" bIns="21600"/>
                    <a:lstStyle/>
                    <a:p>
                      <a:pPr algn="ctr"/>
                      <a:r>
                        <a:rPr sz="2200" b="0" i="0">
                          <a:solidFill>
                            <a:srgbClr val="2B2B2B"/>
                          </a:solidFill>
                          <a:latin typeface="Calibri"/>
                        </a:rPr>
                        <a:t>0.94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90000" rIns="90000" tIns="21600" bIns="21600"/>
                    <a:lstStyle/>
                    <a:p>
                      <a:pPr algn="ctr"/>
                      <a:r>
                        <a:rPr sz="2200" b="0" i="0">
                          <a:solidFill>
                            <a:srgbClr val="2B2B2B"/>
                          </a:solidFill>
                          <a:latin typeface="Calibri"/>
                        </a:rPr>
                        <a:t>0.07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20592000" y="16235999"/>
            <a:ext cx="8748000" cy="21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 i="0">
                <a:solidFill>
                  <a:srgbClr val="C0392B"/>
                </a:solidFill>
                <a:latin typeface="Calibri"/>
              </a:rPr>
              <a:t>+ T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    largest, most consistent improvement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 i="0">
                <a:solidFill>
                  <a:srgbClr val="C0392B"/>
                </a:solidFill>
                <a:latin typeface="Calibri"/>
              </a:rPr>
              <a:t>+ C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    further PR-AUC gain; ROC near saturation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1">
                <a:solidFill>
                  <a:srgbClr val="6E6E6E"/>
                </a:solidFill>
                <a:latin typeface="Calibri"/>
              </a:rPr>
              <a:t>LR shows the same ordering at lower absolute PR-AUC.</a:t>
            </a:r>
          </a:p>
        </p:txBody>
      </p:sp>
      <p:pic>
        <p:nvPicPr>
          <p:cNvPr id="44" name="Picture 43" descr="test_rf_p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92000" y="18215999"/>
            <a:ext cx="8748000" cy="6873429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20592000" y="22240079"/>
            <a:ext cx="87480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E6E6E"/>
                </a:solidFill>
                <a:latin typeface="Calibri"/>
              </a:rPr>
              <a:t>RF precision-recall curves, test fold.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20000" y="26352000"/>
            <a:ext cx="28835999" cy="7920000"/>
          </a:xfrm>
          <a:prstGeom prst="roundRect">
            <a:avLst>
              <a:gd name="adj" fmla="val 2500"/>
            </a:avLst>
          </a:prstGeom>
          <a:solidFill>
            <a:srgbClr val="F7F9F5"/>
          </a:solidFill>
          <a:ln w="11430">
            <a:solidFill>
              <a:srgbClr val="CF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72000" y="26496000"/>
            <a:ext cx="28331999" cy="61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02A55"/>
                </a:solidFill>
                <a:latin typeface="Calibri"/>
              </a:rPr>
              <a:t>Interpretation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72000" y="27054000"/>
            <a:ext cx="12749400" cy="36000"/>
          </a:xfrm>
          <a:prstGeom prst="rect">
            <a:avLst/>
          </a:prstGeom>
          <a:solidFill>
            <a:srgbClr val="4D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2000" y="27396000"/>
            <a:ext cx="18431999" cy="21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200" b="1" i="0">
                <a:solidFill>
                  <a:srgbClr val="102A55"/>
                </a:solidFill>
                <a:latin typeface="Calibri"/>
              </a:rPr>
              <a:t>①   Temporal information is the dominant signal.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800" b="0" i="0">
                <a:solidFill>
                  <a:srgbClr val="2B2B2B"/>
                </a:solidFill>
                <a:latin typeface="Calibri"/>
              </a:rPr>
              <a:t>Recency and decayed activity drive feature importance in both models.  A simple recency-only ranker reaches  </a:t>
            </a:r>
            <a:r>
              <a:rPr sz="1800" b="1" i="0">
                <a:solidFill>
                  <a:srgbClr val="C0392B"/>
                </a:solidFill>
                <a:latin typeface="Calibri"/>
              </a:rPr>
              <a:t>ROC-AUC ≈ 0.89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, confirming that the temporal signal is robust and supported by simple recency information.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2000" y="29196000"/>
            <a:ext cx="18431999" cy="21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200" b="1" i="0">
                <a:solidFill>
                  <a:srgbClr val="102A55"/>
                </a:solidFill>
                <a:latin typeface="Calibri"/>
              </a:rPr>
              <a:t>②   Community-aware features add a nuanced refinement.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800" b="0" i="0">
                <a:solidFill>
                  <a:srgbClr val="2B2B2B"/>
                </a:solidFill>
                <a:latin typeface="Calibri"/>
              </a:rPr>
              <a:t>Community features mostly improve PR-AUC under Random Forest;  ROC-AUC is already saturated.  The improvement is real but modest — community is a refinement, not the headline.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2000" y="31176000"/>
            <a:ext cx="18431999" cy="21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200" b="1" i="0">
                <a:solidFill>
                  <a:srgbClr val="102A55"/>
                </a:solidFill>
                <a:latin typeface="Calibri"/>
              </a:rPr>
              <a:t>③   Pair-level overlap matters more than community label.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800" b="0" i="0">
                <a:solidFill>
                  <a:srgbClr val="2B2B2B"/>
                </a:solidFill>
                <a:latin typeface="Calibri"/>
              </a:rPr>
              <a:t>The naive cross-community-distrust intuition is </a:t>
            </a:r>
            <a:r>
              <a:rPr sz="1800" b="1" i="0">
                <a:solidFill>
                  <a:srgbClr val="C0392B"/>
                </a:solidFill>
                <a:latin typeface="Calibri"/>
              </a:rPr>
              <a:t>not supported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.  Same-community pairs have a slightly higher empirical positive rate.  At the pair level, </a:t>
            </a:r>
            <a:r>
              <a:rPr sz="1800" b="1" i="0">
                <a:solidFill>
                  <a:srgbClr val="C0392B"/>
                </a:solidFill>
                <a:latin typeface="Calibri"/>
              </a:rPr>
              <a:t>neighborhood overlap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 is the strongest community signal — distrust appears on weakly-embedded ties, often within the same broader trust community.</a:t>
            </a:r>
          </a:p>
        </p:txBody>
      </p:sp>
      <p:pic>
        <p:nvPicPr>
          <p:cNvPr id="52" name="Picture 51" descr="same_vs_cross_positive_r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43999" y="27504000"/>
            <a:ext cx="9360000" cy="6017143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9943999" y="33681600"/>
            <a:ext cx="9360000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1">
                <a:solidFill>
                  <a:srgbClr val="6E6E6E"/>
                </a:solidFill>
                <a:latin typeface="Calibri"/>
              </a:rPr>
              <a:t>Training positive rate by community membership.  Same-community pairs are not the safer ones.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20000" y="34776000"/>
            <a:ext cx="28835999" cy="4500000"/>
          </a:xfrm>
          <a:prstGeom prst="roundRect">
            <a:avLst>
              <a:gd name="adj" fmla="val 2500"/>
            </a:avLst>
          </a:prstGeom>
          <a:solidFill>
            <a:srgbClr val="F8F8F8"/>
          </a:solidFill>
          <a:ln w="11430">
            <a:solidFill>
              <a:srgbClr val="CF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2000" y="34920000"/>
            <a:ext cx="28331999" cy="61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02A55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72000" y="35478000"/>
            <a:ext cx="12749400" cy="36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72000" y="35784000"/>
            <a:ext cx="13805999" cy="21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200" b="1" i="0">
                <a:solidFill>
                  <a:srgbClr val="102A55"/>
                </a:solidFill>
                <a:latin typeface="Calibri"/>
              </a:rPr>
              <a:t>We developed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900" b="0" i="0">
                <a:solidFill>
                  <a:srgbClr val="2B2B2B"/>
                </a:solidFill>
                <a:latin typeface="Calibri"/>
              </a:rPr>
              <a:t>•  A precise temporal signed-network prediction task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900" b="0" i="0">
                <a:solidFill>
                  <a:srgbClr val="2B2B2B"/>
                </a:solidFill>
                <a:latin typeface="Calibri"/>
              </a:rPr>
              <a:t>•  An interpretable, leakage-controlled pipeline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900" b="0" i="0">
                <a:solidFill>
                  <a:srgbClr val="2B2B2B"/>
                </a:solidFill>
                <a:latin typeface="Calibri"/>
              </a:rPr>
              <a:t>•  </a:t>
            </a:r>
            <a:r>
              <a:rPr sz="1900" b="1" i="0">
                <a:solidFill>
                  <a:srgbClr val="C0392B"/>
                </a:solidFill>
                <a:latin typeface="Calibri"/>
              </a:rPr>
              <a:t>Temporal features → strongest, most consistent improvement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900" b="0" i="0">
                <a:solidFill>
                  <a:srgbClr val="2B2B2B"/>
                </a:solidFill>
                <a:latin typeface="Calibri"/>
              </a:rPr>
              <a:t>•  Community features → smaller, nuanced refinement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497999" y="35784000"/>
            <a:ext cx="13805999" cy="21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200" b="1" i="0">
                <a:solidFill>
                  <a:srgbClr val="102A55"/>
                </a:solidFill>
                <a:latin typeface="Calibri"/>
              </a:rPr>
              <a:t>Future work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900" b="0" i="0">
                <a:solidFill>
                  <a:srgbClr val="2B2B2B"/>
                </a:solidFill>
                <a:latin typeface="Calibri"/>
              </a:rPr>
              <a:t>•  External replication on Bitcoin-Alpha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900" b="0" i="0">
                <a:solidFill>
                  <a:srgbClr val="2B2B2B"/>
                </a:solidFill>
                <a:latin typeface="Calibri"/>
              </a:rPr>
              <a:t>•  Stronger learning baselines and graph embeddings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900" b="0" i="0">
                <a:solidFill>
                  <a:srgbClr val="2B2B2B"/>
                </a:solidFill>
                <a:latin typeface="Calibri"/>
              </a:rPr>
              <a:t>•  Conditional analyses of community signal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900" b="0" i="0">
                <a:solidFill>
                  <a:srgbClr val="2B2B2B"/>
                </a:solidFill>
                <a:latin typeface="Calibri"/>
              </a:rPr>
              <a:t>•  Rolling-origin validation extended across snapshots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39780000"/>
            <a:ext cx="30275999" cy="2807999"/>
          </a:xfrm>
          <a:prstGeom prst="rect">
            <a:avLst/>
          </a:prstGeom>
          <a:solidFill>
            <a:srgbClr val="F1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0" y="39780000"/>
            <a:ext cx="30275999" cy="36000"/>
          </a:xfrm>
          <a:prstGeom prst="rect">
            <a:avLst/>
          </a:prstGeom>
          <a:solidFill>
            <a:srgbClr val="1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20000" y="39960000"/>
            <a:ext cx="28835999" cy="21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600" b="1" i="0">
                <a:solidFill>
                  <a:srgbClr val="102A55"/>
                </a:solidFill>
                <a:latin typeface="Calibri"/>
              </a:rPr>
              <a:t>ADDITIONAL VALIDATION    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Rolling-origin over 25 monthly test folds (425 positives total) confirms the temporal lift  </a:t>
            </a:r>
            <a:r>
              <a:rPr sz="1500" b="1" i="0">
                <a:solidFill>
                  <a:srgbClr val="C0392B"/>
                </a:solidFill>
                <a:latin typeface="Calibri"/>
              </a:rPr>
              <a:t>(Wilcoxon p ≤ 1.4 × 10⁻⁴, Holm-corrected)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  Bootstrap CIs on the locked fold agree with the across-fold results.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600" b="1" i="0">
                <a:solidFill>
                  <a:srgbClr val="102A55"/>
                </a:solidFill>
                <a:latin typeface="Calibri"/>
              </a:rPr>
              <a:t>REFERENCES    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Kumar et al. (ICDM 2016)   ·   Blondel et al. (J Stat Mech 2008)   ·   Bertazzi et al. (SocInfo 2018)   ·   Leskovec &amp; Krevl, SNAP (2014).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600" b="1" i="0">
                <a:solidFill>
                  <a:srgbClr val="102A55"/>
                </a:solidFill>
                <a:latin typeface="Calibri"/>
              </a:rPr>
              <a:t>REPRODUCIBILITY    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Code in  src/  and  scripts/  ·  seeds fixed at 42  ·  intermediate artifacts persisted under  data/  and  results/ 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